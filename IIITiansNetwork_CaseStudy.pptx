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0" cy="73152"/>
          </a:xfrm>
          <a:prstGeom prst="rect">
            <a:avLst/>
          </a:prstGeom>
          <a:solidFill>
            <a:srgbClr val="534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0" y="0"/>
            <a:ext cx="914400" cy="73152"/>
          </a:xfrm>
          <a:prstGeom prst="rect">
            <a:avLst/>
          </a:prstGeom>
          <a:solidFill>
            <a:srgbClr val="34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0" y="0"/>
            <a:ext cx="502920" cy="73152"/>
          </a:xfrm>
          <a:prstGeom prst="rect">
            <a:avLst/>
          </a:prstGeom>
          <a:solidFill>
            <a:srgbClr val="21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4572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B2ABFF"/>
                </a:solidFill>
                <a:latin typeface="Aptos"/>
              </a:rPr>
              <a:t>CASE STUDY / PRODUCT LEADERSHIP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051560"/>
            <a:ext cx="713232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IIITians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28800"/>
            <a:ext cx="905256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200" b="0">
                <a:solidFill>
                  <a:srgbClr val="DCE0EF"/>
                </a:solidFill>
                <a:latin typeface="Aptos"/>
              </a:rPr>
              <a:t>From fragmented IIIT information to a unified student ecosystem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770632"/>
            <a:ext cx="941832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0">
                <a:solidFill>
                  <a:srgbClr val="B8BFD3"/>
                </a:solidFill>
                <a:latin typeface="Aptos"/>
              </a:rPr>
              <a:t>My POV: how I identified the problem, shaped the product, built the operating team, coordinated execution and drove launch + adoption.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1078992"/>
            <a:ext cx="2834640" cy="1234440"/>
          </a:xfrm>
          <a:prstGeom prst="roundRect">
            <a:avLst/>
          </a:prstGeom>
          <a:solidFill>
            <a:srgbClr val="F7F8FC"/>
          </a:solidFill>
          <a:ln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04504" y="1188719"/>
            <a:ext cx="2542032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200" b="1">
                <a:solidFill>
                  <a:srgbClr val="5343DC"/>
                </a:solidFill>
                <a:latin typeface="Aptos"/>
              </a:rPr>
              <a:t>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04504" y="1664207"/>
            <a:ext cx="254203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50" b="1">
                <a:solidFill>
                  <a:srgbClr val="101828"/>
                </a:solidFill>
                <a:latin typeface="Aptos"/>
              </a:rPr>
              <a:t>IIITs represented in the current public ecosystem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2514600"/>
            <a:ext cx="2834640" cy="1234440"/>
          </a:xfrm>
          <a:prstGeom prst="roundRect">
            <a:avLst/>
          </a:prstGeom>
          <a:solidFill>
            <a:srgbClr val="F7F8FC"/>
          </a:solidFill>
          <a:ln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04504" y="2624328"/>
            <a:ext cx="2542032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200" b="1">
                <a:solidFill>
                  <a:srgbClr val="3465EB"/>
                </a:solidFill>
                <a:latin typeface="Aptos"/>
              </a:rPr>
              <a:t>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04504" y="3099816"/>
            <a:ext cx="254203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50" b="1">
                <a:solidFill>
                  <a:srgbClr val="101828"/>
                </a:solidFill>
                <a:latin typeface="Aptos"/>
              </a:rPr>
              <a:t>States covered in the current directory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3950208"/>
            <a:ext cx="2834640" cy="1234440"/>
          </a:xfrm>
          <a:prstGeom prst="roundRect">
            <a:avLst/>
          </a:prstGeom>
          <a:solidFill>
            <a:srgbClr val="F7F8FC"/>
          </a:solidFill>
          <a:ln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04504" y="4059936"/>
            <a:ext cx="2542032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200" b="1">
                <a:solidFill>
                  <a:srgbClr val="21AABE"/>
                </a:solidFill>
                <a:latin typeface="Aptos"/>
              </a:rPr>
              <a:t>30–40K+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4504" y="4535424"/>
            <a:ext cx="254203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50" b="1">
                <a:solidFill>
                  <a:srgbClr val="101828"/>
                </a:solidFill>
                <a:latin typeface="Aptos"/>
              </a:rPr>
              <a:t>Website views reported within the first few months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870448"/>
            <a:ext cx="6583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LOKESH MEENA  •  PRESIDENT, IIITIANS NETWORK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181344"/>
            <a:ext cx="78638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50" b="0">
                <a:solidFill>
                  <a:srgbClr val="B8BFD3"/>
                </a:solidFill>
                <a:latin typeface="Aptos"/>
              </a:rPr>
              <a:t>Product Management • Program Execution • Strategy &amp; Operations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E0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583680"/>
            <a:ext cx="4754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50" b="0">
                <a:solidFill>
                  <a:srgbClr val="606A7D"/>
                </a:solidFill>
                <a:latin typeface="Aptos"/>
              </a:rPr>
              <a:t>IIITians Network • Case Study • Lokesh Meena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6583680"/>
            <a:ext cx="5394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720" b="0">
                <a:solidFill>
                  <a:srgbClr val="606A7D"/>
                </a:solidFill>
                <a:latin typeface="Aptos"/>
              </a:rPr>
              <a:t>Website: iiitiansnetwork.in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574536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00" b="1">
                <a:solidFill>
                  <a:srgbClr val="5343DC"/>
                </a:solidFill>
                <a:latin typeface="Aptos"/>
              </a:rPr>
              <a:t>01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1207" y="269748"/>
            <a:ext cx="11137392" cy="7315"/>
          </a:xfrm>
          <a:prstGeom prst="rect">
            <a:avLst/>
          </a:prstGeom>
          <a:solidFill>
            <a:srgbClr val="E0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9203" y="32004"/>
            <a:ext cx="658721" cy="210312"/>
          </a:xfrm>
          <a:prstGeom prst="roundRect">
            <a:avLst/>
          </a:prstGeom>
          <a:solidFill>
            <a:srgbClr val="534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7" y="59436"/>
            <a:ext cx="59471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1">
                <a:solidFill>
                  <a:srgbClr val="FFFFFF"/>
                </a:solidFill>
                <a:latin typeface="Aptos"/>
              </a:rPr>
              <a:t>Problem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921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8580" y="59436"/>
            <a:ext cx="926602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User research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15183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87841" y="59436"/>
            <a:ext cx="98607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Product vision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73915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46574" y="59436"/>
            <a:ext cx="688716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Ecosystem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35291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07950" y="59436"/>
            <a:ext cx="59471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Roadmap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02664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75323" y="59436"/>
            <a:ext cx="1342902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Team operating model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18225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0884" y="59436"/>
            <a:ext cx="629245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Feedback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20129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2788" y="59436"/>
            <a:ext cx="59471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Launch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87502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60161" y="59436"/>
            <a:ext cx="629245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Adoption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89406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2065" y="59436"/>
            <a:ext cx="59471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Impact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56779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29438" y="59436"/>
            <a:ext cx="748188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Leadership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77626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50285" y="59436"/>
            <a:ext cx="926602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Future vision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743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1">
                <a:solidFill>
                  <a:srgbClr val="5343DC"/>
                </a:solidFill>
                <a:latin typeface="Aptos"/>
              </a:rPr>
              <a:t>01 • EXECUTIVE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500" b="1">
                <a:solidFill>
                  <a:srgbClr val="101828"/>
                </a:solidFill>
                <a:latin typeface="Aptos"/>
              </a:rPr>
              <a:t>The product I led — in one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0">
                <a:solidFill>
                  <a:srgbClr val="606A7D"/>
                </a:solidFill>
                <a:latin typeface="Aptos"/>
              </a:rPr>
              <a:t>A student-led platform redesigned as an ecosystem, not just a website.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2011680" cy="1143000"/>
          </a:xfrm>
          <a:prstGeom prst="roundRect">
            <a:avLst/>
          </a:prstGeom>
          <a:solidFill>
            <a:srgbClr val="F7F8FC"/>
          </a:solidFill>
          <a:ln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709928"/>
            <a:ext cx="1719072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200" b="1">
                <a:solidFill>
                  <a:srgbClr val="5343DC"/>
                </a:solidFill>
                <a:latin typeface="Aptos"/>
              </a:rPr>
              <a:t>~2.5 yrs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185416"/>
            <a:ext cx="171907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50" b="1">
                <a:solidFill>
                  <a:srgbClr val="101828"/>
                </a:solidFill>
                <a:latin typeface="Aptos"/>
              </a:rPr>
              <a:t>My journey with the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514600"/>
            <a:ext cx="1719072" cy="173735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19" b="0">
                <a:solidFill>
                  <a:srgbClr val="606A7D"/>
                </a:solidFill>
                <a:latin typeface="Aptos"/>
              </a:rPr>
              <a:t>Joined → VP → President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1600200"/>
            <a:ext cx="2011680" cy="1143000"/>
          </a:xfrm>
          <a:prstGeom prst="roundRect">
            <a:avLst/>
          </a:prstGeom>
          <a:solidFill>
            <a:srgbClr val="F7F8FC"/>
          </a:solidFill>
          <a:ln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3784" y="1709928"/>
            <a:ext cx="1719072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200" b="1">
                <a:solidFill>
                  <a:srgbClr val="3465EB"/>
                </a:solidFill>
                <a:latin typeface="Aptos"/>
              </a:rPr>
              <a:t>15–17+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3784" y="2185416"/>
            <a:ext cx="171907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50" b="1">
                <a:solidFill>
                  <a:srgbClr val="101828"/>
                </a:solidFill>
                <a:latin typeface="Aptos"/>
              </a:rPr>
              <a:t>Active core members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43784" y="2514600"/>
            <a:ext cx="1719072" cy="173735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19" b="0">
                <a:solidFill>
                  <a:srgbClr val="606A7D"/>
                </a:solidFill>
                <a:latin typeface="Aptos"/>
              </a:rPr>
              <a:t>Cross-functional operating team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1600200"/>
            <a:ext cx="2011680" cy="1143000"/>
          </a:xfrm>
          <a:prstGeom prst="roundRect">
            <a:avLst/>
          </a:prstGeom>
          <a:solidFill>
            <a:srgbClr val="F7F8FC"/>
          </a:solidFill>
          <a:ln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92624" y="1709928"/>
            <a:ext cx="1719072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200" b="1">
                <a:solidFill>
                  <a:srgbClr val="219168"/>
                </a:solidFill>
                <a:latin typeface="Aptos"/>
              </a:rPr>
              <a:t>90%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2624" y="2185416"/>
            <a:ext cx="171907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50" b="1">
                <a:solidFill>
                  <a:srgbClr val="101828"/>
                </a:solidFill>
                <a:latin typeface="Aptos"/>
              </a:rPr>
              <a:t>Approx. product readiness at launch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92624" y="2514600"/>
            <a:ext cx="1719072" cy="173735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19" b="0">
                <a:solidFill>
                  <a:srgbClr val="606A7D"/>
                </a:solidFill>
                <a:latin typeface="Aptos"/>
              </a:rPr>
              <a:t>Core features available before launch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95160" y="1600200"/>
            <a:ext cx="2011680" cy="1143000"/>
          </a:xfrm>
          <a:prstGeom prst="roundRect">
            <a:avLst/>
          </a:prstGeom>
          <a:solidFill>
            <a:srgbClr val="F7F8FC"/>
          </a:solidFill>
          <a:ln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41464" y="1709928"/>
            <a:ext cx="1719072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200" b="1">
                <a:solidFill>
                  <a:srgbClr val="21AABE"/>
                </a:solidFill>
                <a:latin typeface="Aptos"/>
              </a:rPr>
              <a:t>30–40K+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41464" y="2185416"/>
            <a:ext cx="171907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50" b="1">
                <a:solidFill>
                  <a:srgbClr val="101828"/>
                </a:solidFill>
                <a:latin typeface="Aptos"/>
              </a:rPr>
              <a:t>Reported website views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41464" y="2514600"/>
            <a:ext cx="1719072" cy="173735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19" b="0">
                <a:solidFill>
                  <a:srgbClr val="606A7D"/>
                </a:solidFill>
                <a:latin typeface="Aptos"/>
              </a:rPr>
              <a:t>Within a few months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1600200"/>
            <a:ext cx="2423160" cy="1143000"/>
          </a:xfrm>
          <a:prstGeom prst="roundRect">
            <a:avLst/>
          </a:prstGeom>
          <a:solidFill>
            <a:srgbClr val="F7F8FC"/>
          </a:solidFill>
          <a:ln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0304" y="1709928"/>
            <a:ext cx="2130552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200" b="1">
                <a:solidFill>
                  <a:srgbClr val="E5872E"/>
                </a:solidFill>
                <a:latin typeface="Aptos"/>
              </a:rPr>
              <a:t>20K+ / ~16K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2185416"/>
            <a:ext cx="213055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50" b="1">
                <a:solidFill>
                  <a:srgbClr val="101828"/>
                </a:solidFill>
                <a:latin typeface="Aptos"/>
              </a:rPr>
              <a:t>Instagram / LinkedIn reach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0304" y="2514600"/>
            <a:ext cx="2130552" cy="173735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19" b="0">
                <a:solidFill>
                  <a:srgbClr val="606A7D"/>
                </a:solidFill>
                <a:latin typeface="Aptos"/>
              </a:rPr>
              <a:t>Self-reported tenure-era figures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3063240"/>
            <a:ext cx="18288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50" b="1">
                <a:solidFill>
                  <a:srgbClr val="5343DC"/>
                </a:solidFill>
                <a:latin typeface="Aptos"/>
              </a:rPr>
              <a:t>MY ROLE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3337560"/>
            <a:ext cx="5440680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500" b="0">
                <a:solidFill>
                  <a:srgbClr val="181F34"/>
                </a:solidFill>
                <a:latin typeface="Aptos"/>
              </a:rPr>
              <a:t>I owned the product and organizational execution: problem framing, roadmap, prioritization, team formation, cross-functional coordination, user feedback, testing, launch readiness and adoption.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3063240"/>
            <a:ext cx="18288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50" b="1">
                <a:solidFill>
                  <a:srgbClr val="5343DC"/>
                </a:solidFill>
                <a:latin typeface="Aptos"/>
              </a:rPr>
              <a:t>CASE THESIS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337560"/>
            <a:ext cx="5303520" cy="11704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50" b="0">
                <a:solidFill>
                  <a:srgbClr val="181F34"/>
                </a:solidFill>
                <a:latin typeface="Aptos"/>
              </a:rPr>
              <a:t>The core opportunity was fragmentation: students, clubs, alumni, opportunities, placement information and events lived across disconnected channels. I helped turn that fragmentation into a single IIIT-focused entry point.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709160"/>
            <a:ext cx="3429000" cy="1234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4709160"/>
            <a:ext cx="50292" cy="1234440"/>
          </a:xfrm>
          <a:prstGeom prst="rect">
            <a:avLst/>
          </a:prstGeom>
          <a:solidFill>
            <a:srgbClr val="CD4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837176"/>
            <a:ext cx="3108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1">
                <a:solidFill>
                  <a:srgbClr val="101828"/>
                </a:solidFill>
                <a:latin typeface="Aptos"/>
              </a:rPr>
              <a:t>Before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157216"/>
            <a:ext cx="3108960" cy="7040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0">
                <a:solidFill>
                  <a:srgbClr val="181F34"/>
                </a:solidFill>
                <a:latin typeface="Aptos"/>
              </a:rPr>
              <a:t>Scattered websites • Instagram • WhatsApp • Telegram • placement reports • alumni groups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87952" y="4709160"/>
            <a:ext cx="3429000" cy="1234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87952" y="4709160"/>
            <a:ext cx="50292" cy="1234440"/>
          </a:xfrm>
          <a:prstGeom prst="rect">
            <a:avLst/>
          </a:prstGeom>
          <a:solidFill>
            <a:srgbClr val="534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837176"/>
            <a:ext cx="3108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1">
                <a:solidFill>
                  <a:srgbClr val="101828"/>
                </a:solidFill>
                <a:latin typeface="Aptos"/>
              </a:rPr>
              <a:t>Build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52544" y="5157216"/>
            <a:ext cx="3108960" cy="7040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0">
                <a:solidFill>
                  <a:srgbClr val="181F34"/>
                </a:solidFill>
                <a:latin typeface="Aptos"/>
              </a:rPr>
              <a:t>Roadmap → dedicated dev team → feedback → testing → ~90% readiness → launch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08975" y="4709160"/>
            <a:ext cx="3767328" cy="1234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808975" y="4709160"/>
            <a:ext cx="50292" cy="1234440"/>
          </a:xfrm>
          <a:prstGeom prst="rect">
            <a:avLst/>
          </a:prstGeom>
          <a:solidFill>
            <a:srgbClr val="21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73567" y="4837176"/>
            <a:ext cx="344728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1">
                <a:solidFill>
                  <a:srgbClr val="101828"/>
                </a:solidFill>
                <a:latin typeface="Aptos"/>
              </a:rPr>
              <a:t>After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73567" y="5157216"/>
            <a:ext cx="3447288" cy="7040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0">
                <a:solidFill>
                  <a:srgbClr val="181F34"/>
                </a:solidFill>
                <a:latin typeface="Aptos"/>
              </a:rPr>
              <a:t>Directory + placements + events + opportunities + clubs + Legacy + gallery + collaboration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E0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6583680"/>
            <a:ext cx="4754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50" b="0">
                <a:solidFill>
                  <a:srgbClr val="606A7D"/>
                </a:solidFill>
                <a:latin typeface="Aptos"/>
              </a:rPr>
              <a:t>IIITians Network • Case Study • Lokesh Meena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0" y="6583680"/>
            <a:ext cx="5394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720" b="0">
                <a:solidFill>
                  <a:srgbClr val="606A7D"/>
                </a:solidFill>
                <a:latin typeface="Aptos"/>
              </a:rPr>
              <a:t>Public site: current ecosystem structure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09960" y="6574536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00" b="1">
                <a:solidFill>
                  <a:srgbClr val="5343DC"/>
                </a:solidFill>
                <a:latin typeface="Aptos"/>
              </a:rPr>
              <a:t>02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1207" y="269748"/>
            <a:ext cx="11137392" cy="7315"/>
          </a:xfrm>
          <a:prstGeom prst="rect">
            <a:avLst/>
          </a:prstGeom>
          <a:solidFill>
            <a:srgbClr val="E0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1207" y="59436"/>
            <a:ext cx="59471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Problem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5921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8580" y="59436"/>
            <a:ext cx="926602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User research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15183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355837" y="32004"/>
            <a:ext cx="1050081" cy="210312"/>
          </a:xfrm>
          <a:prstGeom prst="roundRect">
            <a:avLst/>
          </a:prstGeom>
          <a:solidFill>
            <a:srgbClr val="EE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387841" y="59436"/>
            <a:ext cx="98607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1">
                <a:solidFill>
                  <a:srgbClr val="5343DC"/>
                </a:solidFill>
                <a:latin typeface="Aptos"/>
              </a:rPr>
              <a:t>Product vision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73915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46574" y="59436"/>
            <a:ext cx="688716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Ecosystem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35291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07950" y="59436"/>
            <a:ext cx="59471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Roadmap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02664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75323" y="59436"/>
            <a:ext cx="1342902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Team operating model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18225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90884" y="59436"/>
            <a:ext cx="629245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Feedback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20129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2788" y="59436"/>
            <a:ext cx="59471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Launch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87502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60161" y="59436"/>
            <a:ext cx="629245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Adoption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889406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62065" y="59436"/>
            <a:ext cx="59471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Impact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56779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829438" y="59436"/>
            <a:ext cx="748188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Leadership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77626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750285" y="59436"/>
            <a:ext cx="926602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Future vision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743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1">
                <a:solidFill>
                  <a:srgbClr val="5343DC"/>
                </a:solidFill>
                <a:latin typeface="Aptos"/>
              </a:rPr>
              <a:t>02 •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500" b="1">
                <a:solidFill>
                  <a:srgbClr val="101828"/>
                </a:solidFill>
                <a:latin typeface="Aptos"/>
              </a:rPr>
              <a:t>I was not solving a “website”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0">
                <a:solidFill>
                  <a:srgbClr val="606A7D"/>
                </a:solidFill>
                <a:latin typeface="Aptos"/>
              </a:rPr>
              <a:t>I was solving a discovery, coordination and community-fragmentation problem.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8288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50" b="1">
                <a:solidFill>
                  <a:srgbClr val="5343DC"/>
                </a:solidFill>
                <a:latin typeface="Aptos"/>
              </a:rPr>
              <a:t>WHAT I OBSERVED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47088"/>
            <a:ext cx="5623560" cy="3520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181F34"/>
                </a:solidFill>
                <a:latin typeface="Aptos"/>
              </a:defRPr>
            </a:pPr>
            <a:r>
              <a:t>•  Students struggled to connect with peers and communities across IIITs.</a:t>
            </a:r>
          </a:p>
          <a:p>
            <a:pPr>
              <a:spcAft>
                <a:spcPts val="200"/>
              </a:spcAft>
              <a:defRPr sz="1200">
                <a:solidFill>
                  <a:srgbClr val="181F34"/>
                </a:solidFill>
                <a:latin typeface="Aptos"/>
              </a:defRPr>
            </a:pPr>
            <a:r>
              <a:t>•  Events and hackathons were fragmented across individual college channels.</a:t>
            </a:r>
          </a:p>
          <a:p>
            <a:pPr>
              <a:spcAft>
                <a:spcPts val="200"/>
              </a:spcAft>
              <a:defRPr sz="1200">
                <a:solidFill>
                  <a:srgbClr val="181F34"/>
                </a:solidFill>
                <a:latin typeface="Aptos"/>
              </a:defRPr>
            </a:pPr>
            <a:r>
              <a:t>•  Placement statistics were difficult to locate and compare consistently.</a:t>
            </a:r>
          </a:p>
          <a:p>
            <a:pPr>
              <a:spcAft>
                <a:spcPts val="200"/>
              </a:spcAft>
              <a:defRPr sz="1200">
                <a:solidFill>
                  <a:srgbClr val="181F34"/>
                </a:solidFill>
                <a:latin typeface="Aptos"/>
              </a:defRPr>
            </a:pPr>
            <a:r>
              <a:t>•  Alumni were largely reachable through isolated groups rather than one common network.</a:t>
            </a:r>
          </a:p>
          <a:p>
            <a:pPr>
              <a:spcAft>
                <a:spcPts val="200"/>
              </a:spcAft>
              <a:defRPr sz="1200">
                <a:solidFill>
                  <a:srgbClr val="181F34"/>
                </a:solidFill>
                <a:latin typeface="Aptos"/>
              </a:defRPr>
            </a:pPr>
            <a:r>
              <a:t>•  Clubs needed broader reach and a structured way to publish events/announcements.</a:t>
            </a:r>
          </a:p>
          <a:p>
            <a:pPr>
              <a:spcAft>
                <a:spcPts val="200"/>
              </a:spcAft>
              <a:defRPr sz="1200">
                <a:solidFill>
                  <a:srgbClr val="181F34"/>
                </a:solidFill>
                <a:latin typeface="Aptos"/>
              </a:defRPr>
            </a:pPr>
            <a:r>
              <a:t>•  Aspirants had to research colleges, campus life, facilities and placements separately.</a:t>
            </a:r>
          </a:p>
          <a:p>
            <a:pPr>
              <a:spcAft>
                <a:spcPts val="200"/>
              </a:spcAft>
              <a:defRPr sz="1200">
                <a:solidFill>
                  <a:srgbClr val="181F34"/>
                </a:solidFill>
                <a:latin typeface="Aptos"/>
              </a:defRPr>
            </a:pPr>
            <a:r>
              <a:t>•  Opportunities were scattered across LinkedIn, WhatsApp, Telegram and college communities.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554480"/>
            <a:ext cx="18288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50" b="1">
                <a:solidFill>
                  <a:srgbClr val="5343DC"/>
                </a:solidFill>
                <a:latin typeface="Aptos"/>
              </a:rPr>
              <a:t>FRAGMENTATION LOOP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1901952"/>
            <a:ext cx="4892040" cy="640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29400" y="1901952"/>
            <a:ext cx="50292" cy="640080"/>
          </a:xfrm>
          <a:prstGeom prst="rect">
            <a:avLst/>
          </a:prstGeom>
          <a:solidFill>
            <a:srgbClr val="CD4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93992" y="2029968"/>
            <a:ext cx="4572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101828"/>
                </a:solidFill>
                <a:latin typeface="Aptos"/>
              </a:rPr>
              <a:t>DISCOVER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3992" y="2350008"/>
            <a:ext cx="4572000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19" b="0">
                <a:solidFill>
                  <a:srgbClr val="181F34"/>
                </a:solidFill>
                <a:latin typeface="Aptos"/>
              </a:rPr>
              <a:t>Search many sources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2688336"/>
            <a:ext cx="4892040" cy="640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29400" y="2688336"/>
            <a:ext cx="50292" cy="640080"/>
          </a:xfrm>
          <a:prstGeom prst="rect">
            <a:avLst/>
          </a:prstGeom>
          <a:solidFill>
            <a:srgbClr val="E58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93992" y="2816352"/>
            <a:ext cx="4572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101828"/>
                </a:solidFill>
                <a:latin typeface="Aptos"/>
              </a:rPr>
              <a:t>VERIFY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3992" y="3136391"/>
            <a:ext cx="4572000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19" b="0">
                <a:solidFill>
                  <a:srgbClr val="181F34"/>
                </a:solidFill>
                <a:latin typeface="Aptos"/>
              </a:rPr>
              <a:t>Check whether info is reliable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3474720"/>
            <a:ext cx="4892040" cy="640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9400" y="3474720"/>
            <a:ext cx="50292" cy="640080"/>
          </a:xfrm>
          <a:prstGeom prst="rect">
            <a:avLst/>
          </a:prstGeom>
          <a:solidFill>
            <a:srgbClr val="534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93992" y="3602736"/>
            <a:ext cx="4572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101828"/>
                </a:solidFill>
                <a:latin typeface="Aptos"/>
              </a:rPr>
              <a:t>CONNECT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93992" y="3922776"/>
            <a:ext cx="4572000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19" b="0">
                <a:solidFill>
                  <a:srgbClr val="181F34"/>
                </a:solidFill>
                <a:latin typeface="Aptos"/>
              </a:rPr>
              <a:t>Find the right person/club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400" y="4261104"/>
            <a:ext cx="4892040" cy="640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29400" y="4261104"/>
            <a:ext cx="50292" cy="640080"/>
          </a:xfrm>
          <a:prstGeom prst="rect">
            <a:avLst/>
          </a:prstGeom>
          <a:solidFill>
            <a:srgbClr val="21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4389120"/>
            <a:ext cx="4572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101828"/>
                </a:solidFill>
                <a:latin typeface="Aptos"/>
              </a:rPr>
              <a:t>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93992" y="4709160"/>
            <a:ext cx="4572000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19" b="0">
                <a:solidFill>
                  <a:srgbClr val="181F34"/>
                </a:solidFill>
                <a:latin typeface="Aptos"/>
              </a:rPr>
              <a:t>Register / apply / collaborate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5266944"/>
            <a:ext cx="2743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5343DC"/>
                </a:solidFill>
                <a:latin typeface="Aptos"/>
              </a:rPr>
              <a:t>My product question became: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5532120"/>
            <a:ext cx="48006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700" b="1">
                <a:solidFill>
                  <a:srgbClr val="101828"/>
                </a:solidFill>
                <a:latin typeface="Aptos"/>
              </a:rPr>
              <a:t>“What if IIIT students could discover, connect and act from one student-first ecosystem?”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E0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583680"/>
            <a:ext cx="4754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50" b="0">
                <a:solidFill>
                  <a:srgbClr val="606A7D"/>
                </a:solidFill>
                <a:latin typeface="Aptos"/>
              </a:rPr>
              <a:t>IIITians Network • Case Study • Lokesh Meena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6583680"/>
            <a:ext cx="5394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720" b="0">
                <a:solidFill>
                  <a:srgbClr val="606A7D"/>
                </a:solidFill>
                <a:latin typeface="Aptos"/>
              </a:rPr>
              <a:t>Problem framing: my tenure experience + public platform mission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574536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00" b="1">
                <a:solidFill>
                  <a:srgbClr val="5343DC"/>
                </a:solidFill>
                <a:latin typeface="Aptos"/>
              </a:rPr>
              <a:t>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7" y="269748"/>
            <a:ext cx="11137392" cy="7315"/>
          </a:xfrm>
          <a:prstGeom prst="rect">
            <a:avLst/>
          </a:prstGeom>
          <a:solidFill>
            <a:srgbClr val="E0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89203" y="32004"/>
            <a:ext cx="658721" cy="210312"/>
          </a:xfrm>
          <a:prstGeom prst="roundRect">
            <a:avLst/>
          </a:prstGeom>
          <a:solidFill>
            <a:srgbClr val="EE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7" y="59436"/>
            <a:ext cx="59471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1">
                <a:solidFill>
                  <a:srgbClr val="5343DC"/>
                </a:solidFill>
                <a:latin typeface="Aptos"/>
              </a:rPr>
              <a:t>Problem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921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8580" y="59436"/>
            <a:ext cx="926602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User research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15183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87841" y="59436"/>
            <a:ext cx="98607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Product vision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73915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46574" y="59436"/>
            <a:ext cx="688716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Ecosystem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35291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07950" y="59436"/>
            <a:ext cx="59471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Roadmap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02664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75323" y="59436"/>
            <a:ext cx="1342902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Team operating model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18225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90884" y="59436"/>
            <a:ext cx="629245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Feedback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20129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2788" y="59436"/>
            <a:ext cx="59471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Launch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87502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60161" y="59436"/>
            <a:ext cx="629245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Adoption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89406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62065" y="59436"/>
            <a:ext cx="59471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Impact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56779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29438" y="59436"/>
            <a:ext cx="748188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Leadership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77626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50285" y="59436"/>
            <a:ext cx="926602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Future vision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743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1">
                <a:solidFill>
                  <a:srgbClr val="5343DC"/>
                </a:solidFill>
                <a:latin typeface="Aptos"/>
              </a:rPr>
              <a:t>03 • DISCOVERY &amp;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500" b="1">
                <a:solidFill>
                  <a:srgbClr val="101828"/>
                </a:solidFill>
                <a:latin typeface="Aptos"/>
              </a:rPr>
              <a:t>I built around multiple user jobs, not one audience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0">
                <a:solidFill>
                  <a:srgbClr val="606A7D"/>
                </a:solidFill>
                <a:latin typeface="Aptos"/>
              </a:rPr>
              <a:t>I used direct conversations, alumni/legacy groups, team feedback and social/community channels to validate the need.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3493008" cy="12984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50292" cy="1298448"/>
          </a:xfrm>
          <a:prstGeom prst="rect">
            <a:avLst/>
          </a:prstGeom>
          <a:solidFill>
            <a:srgbClr val="534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00784"/>
            <a:ext cx="317296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101828"/>
                </a:solidFill>
                <a:latin typeface="Aptos"/>
              </a:rPr>
              <a:t>STUDENTS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20824"/>
            <a:ext cx="3172968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69" b="0">
                <a:solidFill>
                  <a:srgbClr val="181F34"/>
                </a:solidFill>
                <a:latin typeface="Aptos"/>
              </a:rPr>
              <a:t>Discover events, clubs, placements, opportunities and cross-campus peers.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572768"/>
            <a:ext cx="3493008" cy="12984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1688" y="1572768"/>
            <a:ext cx="50292" cy="1298448"/>
          </a:xfrm>
          <a:prstGeom prst="rect">
            <a:avLst/>
          </a:prstGeom>
          <a:solidFill>
            <a:srgbClr val="34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700784"/>
            <a:ext cx="317296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101828"/>
                </a:solidFill>
                <a:latin typeface="Aptos"/>
              </a:rPr>
              <a:t>ASPIRANTS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020824"/>
            <a:ext cx="3172968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69" b="0">
                <a:solidFill>
                  <a:srgbClr val="181F34"/>
                </a:solidFill>
                <a:latin typeface="Aptos"/>
              </a:rPr>
              <a:t>Compare IIITs, branches, placement data, campus life and counselling information.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1572768"/>
            <a:ext cx="3493008" cy="12984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6448" y="1572768"/>
            <a:ext cx="50292" cy="1298448"/>
          </a:xfrm>
          <a:prstGeom prst="rect">
            <a:avLst/>
          </a:prstGeom>
          <a:solidFill>
            <a:srgbClr val="21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700784"/>
            <a:ext cx="317296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101828"/>
                </a:solidFill>
                <a:latin typeface="Aptos"/>
              </a:rPr>
              <a:t>ALUMNI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020824"/>
            <a:ext cx="3172968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69" b="0">
                <a:solidFill>
                  <a:srgbClr val="181F34"/>
                </a:solidFill>
                <a:latin typeface="Aptos"/>
              </a:rPr>
              <a:t>Create a structured identity, stay connected and support future batches.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145536"/>
            <a:ext cx="3493008" cy="12984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3145536"/>
            <a:ext cx="50292" cy="1298448"/>
          </a:xfrm>
          <a:prstGeom prst="rect">
            <a:avLst/>
          </a:prstGeom>
          <a:solidFill>
            <a:srgbClr val="E58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273552"/>
            <a:ext cx="317296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101828"/>
                </a:solidFill>
                <a:latin typeface="Aptos"/>
              </a:rPr>
              <a:t>CLUBS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593591"/>
            <a:ext cx="3172968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69" b="0">
                <a:solidFill>
                  <a:srgbClr val="181F34"/>
                </a:solidFill>
                <a:latin typeface="Aptos"/>
              </a:rPr>
              <a:t>Publish announcements/events, verify identity and reach a cross-IIIT audience.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61688" y="3145536"/>
            <a:ext cx="3493008" cy="12984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61688" y="3145536"/>
            <a:ext cx="50292" cy="1298448"/>
          </a:xfrm>
          <a:prstGeom prst="rect">
            <a:avLst/>
          </a:prstGeom>
          <a:solidFill>
            <a:srgbClr val="21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3273552"/>
            <a:ext cx="317296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101828"/>
                </a:solidFill>
                <a:latin typeface="Aptos"/>
              </a:rPr>
              <a:t>ORGANIZERS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3593591"/>
            <a:ext cx="3172968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69" b="0">
                <a:solidFill>
                  <a:srgbClr val="181F34"/>
                </a:solidFill>
                <a:latin typeface="Aptos"/>
              </a:rPr>
              <a:t>Promote events and build participation across campuses.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56448" y="3145536"/>
            <a:ext cx="3493008" cy="12984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56448" y="3145536"/>
            <a:ext cx="50292" cy="1298448"/>
          </a:xfrm>
          <a:prstGeom prst="rect">
            <a:avLst/>
          </a:prstGeom>
          <a:solidFill>
            <a:srgbClr val="CD4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3273552"/>
            <a:ext cx="317296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101828"/>
                </a:solidFill>
                <a:latin typeface="Aptos"/>
              </a:rPr>
              <a:t>INDUSTRY / STARTUPS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593591"/>
            <a:ext cx="3172968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69" b="0">
                <a:solidFill>
                  <a:srgbClr val="181F34"/>
                </a:solidFill>
                <a:latin typeface="Aptos"/>
              </a:rPr>
              <a:t>Reach student talent, sponsor events and initiate partnerships.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4846320"/>
            <a:ext cx="2743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50" b="1">
                <a:solidFill>
                  <a:srgbClr val="5343DC"/>
                </a:solidFill>
                <a:latin typeface="Aptos"/>
              </a:rPr>
              <a:t>RESEARCH / VALIDATION ACTIONS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5102352"/>
            <a:ext cx="7360920" cy="12070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200"/>
              </a:spcAft>
              <a:defRPr sz="940">
                <a:solidFill>
                  <a:srgbClr val="181F34"/>
                </a:solidFill>
                <a:latin typeface="Aptos"/>
              </a:defRPr>
            </a:pPr>
            <a:r>
              <a:t>•  Personally contacted ~100 people across alumni/legacy groups, current students, juniors and aspirants.</a:t>
            </a:r>
          </a:p>
          <a:p>
            <a:pPr>
              <a:spcAft>
                <a:spcPts val="200"/>
              </a:spcAft>
              <a:defRPr sz="940">
                <a:solidFill>
                  <a:srgbClr val="181F34"/>
                </a:solidFill>
                <a:latin typeface="Aptos"/>
              </a:defRPr>
            </a:pPr>
            <a:r>
              <a:t>•  Collected feedback through WhatsApp, Discord, Instagram, LinkedIn and 1:1 conversations.</a:t>
            </a:r>
          </a:p>
          <a:p>
            <a:pPr>
              <a:spcAft>
                <a:spcPts val="200"/>
              </a:spcAft>
              <a:defRPr sz="940">
                <a:solidFill>
                  <a:srgbClr val="181F34"/>
                </a:solidFill>
                <a:latin typeface="Aptos"/>
              </a:defRPr>
            </a:pPr>
            <a:r>
              <a:t>•  Showed prototypes to technically experienced people and alumni/seniors before publishing.</a:t>
            </a:r>
          </a:p>
          <a:p>
            <a:pPr>
              <a:spcAft>
                <a:spcPts val="200"/>
              </a:spcAft>
              <a:defRPr sz="940">
                <a:solidFill>
                  <a:srgbClr val="181F34"/>
                </a:solidFill>
                <a:latin typeface="Aptos"/>
              </a:defRPr>
            </a:pPr>
            <a:r>
              <a:t>•  Internally tested club registrations, sample submissions and core workflows before launch.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83879" y="4846320"/>
            <a:ext cx="3401568" cy="14813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83879" y="4846320"/>
            <a:ext cx="50292" cy="1481328"/>
          </a:xfrm>
          <a:prstGeom prst="rect">
            <a:avLst/>
          </a:prstGeom>
          <a:solidFill>
            <a:srgbClr val="534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48471" y="4974336"/>
            <a:ext cx="308152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101828"/>
                </a:solidFill>
                <a:latin typeface="Aptos"/>
              </a:rPr>
              <a:t>Signal → decision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8471" y="5294376"/>
            <a:ext cx="3081528" cy="9509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30" b="0">
                <a:solidFill>
                  <a:srgbClr val="181F34"/>
                </a:solidFill>
                <a:latin typeface="Aptos"/>
              </a:rPr>
              <a:t>Repeated demand for a common events layer, reliable placement information, club publishing and stronger alumni connectivity became product requirements.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E0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6583680"/>
            <a:ext cx="4754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50" b="0">
                <a:solidFill>
                  <a:srgbClr val="606A7D"/>
                </a:solidFill>
                <a:latin typeface="Aptos"/>
              </a:rPr>
              <a:t>IIITians Network • Case Study • Lokesh Meena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6583680"/>
            <a:ext cx="5394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720" b="0">
                <a:solidFill>
                  <a:srgbClr val="606A7D"/>
                </a:solidFill>
                <a:latin typeface="Aptos"/>
              </a:rPr>
              <a:t>Research details: my tenure account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09960" y="6574536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00" b="1">
                <a:solidFill>
                  <a:srgbClr val="5343DC"/>
                </a:solidFill>
                <a:latin typeface="Aptos"/>
              </a:rPr>
              <a:t>04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1207" y="269748"/>
            <a:ext cx="11137392" cy="7315"/>
          </a:xfrm>
          <a:prstGeom prst="rect">
            <a:avLst/>
          </a:prstGeom>
          <a:solidFill>
            <a:srgbClr val="E0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1207" y="59436"/>
            <a:ext cx="59471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Problem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921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256576" y="32004"/>
            <a:ext cx="990610" cy="210312"/>
          </a:xfrm>
          <a:prstGeom prst="roundRect">
            <a:avLst/>
          </a:prstGeom>
          <a:solidFill>
            <a:srgbClr val="EE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88580" y="59436"/>
            <a:ext cx="926602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1">
                <a:solidFill>
                  <a:srgbClr val="5343DC"/>
                </a:solidFill>
                <a:latin typeface="Aptos"/>
              </a:rPr>
              <a:t>User research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15183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87841" y="59436"/>
            <a:ext cx="98607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Product vision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73915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46574" y="59436"/>
            <a:ext cx="688716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Ecosystem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35291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07950" y="59436"/>
            <a:ext cx="59471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Roadmap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02664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75323" y="59436"/>
            <a:ext cx="1342902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Team operating model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18225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90884" y="59436"/>
            <a:ext cx="629245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Feedback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20129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92788" y="59436"/>
            <a:ext cx="59471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Launch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87502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60161" y="59436"/>
            <a:ext cx="629245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Adoption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89406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62065" y="59436"/>
            <a:ext cx="59471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Impact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56779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29438" y="59436"/>
            <a:ext cx="748188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Leadership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77626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750285" y="59436"/>
            <a:ext cx="926602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Future vision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743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1">
                <a:solidFill>
                  <a:srgbClr val="5343DC"/>
                </a:solidFill>
                <a:latin typeface="Aptos"/>
              </a:rPr>
              <a:t>04 •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500" b="1">
                <a:solidFill>
                  <a:srgbClr val="101828"/>
                </a:solidFill>
                <a:latin typeface="Aptos"/>
              </a:rPr>
              <a:t>The ecosystem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0">
                <a:solidFill>
                  <a:srgbClr val="606A7D"/>
                </a:solidFill>
                <a:latin typeface="Aptos"/>
              </a:rPr>
              <a:t>The current public platform exposes a connected set of workflows across discovery, community, opportunity and collaboration.</a:t>
            </a:r>
          </a:p>
        </p:txBody>
      </p:sp>
      <p:sp>
        <p:nvSpPr>
          <p:cNvPr id="6" name="Oval 5"/>
          <p:cNvSpPr/>
          <p:nvPr/>
        </p:nvSpPr>
        <p:spPr>
          <a:xfrm>
            <a:off x="4709160" y="2395728"/>
            <a:ext cx="2743200" cy="1417320"/>
          </a:xfrm>
          <a:prstGeom prst="ellipse">
            <a:avLst/>
          </a:prstGeom>
          <a:solidFill>
            <a:srgbClr val="EEECFF"/>
          </a:solidFill>
          <a:ln>
            <a:solidFill>
              <a:srgbClr val="534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2724912"/>
            <a:ext cx="22860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700" b="1">
                <a:solidFill>
                  <a:srgbClr val="5343DC"/>
                </a:solidFill>
                <a:latin typeface="Aptos"/>
              </a:rPr>
              <a:t>ONE IIIT-FOCUSED
ECOSYSTEM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54480"/>
            <a:ext cx="3246120" cy="1188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554480"/>
            <a:ext cx="50292" cy="1188720"/>
          </a:xfrm>
          <a:prstGeom prst="rect">
            <a:avLst/>
          </a:prstGeom>
          <a:solidFill>
            <a:srgbClr val="34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82495"/>
            <a:ext cx="292607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101828"/>
                </a:solidFill>
                <a:latin typeface="Aptos"/>
              </a:rPr>
              <a:t>IIIT Directory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02536"/>
            <a:ext cx="2926079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19" b="0">
                <a:solidFill>
                  <a:srgbClr val="181F34"/>
                </a:solidFill>
                <a:latin typeface="Aptos"/>
              </a:rPr>
              <a:t>31 IIITs • 22 states
search by name/city/state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337560"/>
            <a:ext cx="3246120" cy="1188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3337560"/>
            <a:ext cx="50292" cy="1188720"/>
          </a:xfrm>
          <a:prstGeom prst="rect">
            <a:avLst/>
          </a:prstGeom>
          <a:solidFill>
            <a:srgbClr val="E58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3465576"/>
            <a:ext cx="292607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101828"/>
                </a:solidFill>
                <a:latin typeface="Aptos"/>
              </a:rPr>
              <a:t>Events Desk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3785615"/>
            <a:ext cx="2926079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19" b="0">
                <a:solidFill>
                  <a:srgbClr val="181F34"/>
                </a:solidFill>
                <a:latin typeface="Aptos"/>
              </a:rPr>
              <a:t>Fests • hackathons •
college event discovery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5074920"/>
            <a:ext cx="3246120" cy="1188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5074920"/>
            <a:ext cx="50292" cy="1188720"/>
          </a:xfrm>
          <a:prstGeom prst="rect">
            <a:avLst/>
          </a:prstGeom>
          <a:solidFill>
            <a:srgbClr val="21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5202936"/>
            <a:ext cx="292607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101828"/>
                </a:solidFill>
                <a:latin typeface="Aptos"/>
              </a:rPr>
              <a:t>Opportunities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5522976"/>
            <a:ext cx="2926079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19" b="0">
                <a:solidFill>
                  <a:srgbClr val="181F34"/>
                </a:solidFill>
                <a:latin typeface="Aptos"/>
              </a:rPr>
              <a:t>Internships • full-time • research
open source • hackathons • startups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1554480"/>
            <a:ext cx="3246120" cy="1188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75320" y="1554480"/>
            <a:ext cx="50292" cy="1188720"/>
          </a:xfrm>
          <a:prstGeom prst="rect">
            <a:avLst/>
          </a:prstGeom>
          <a:solidFill>
            <a:srgbClr val="534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9912" y="1682495"/>
            <a:ext cx="292607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101828"/>
                </a:solidFill>
                <a:latin typeface="Aptos"/>
              </a:rPr>
              <a:t>Legacy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2" y="2002536"/>
            <a:ext cx="2926079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19" b="0">
                <a:solidFill>
                  <a:srgbClr val="181F34"/>
                </a:solidFill>
                <a:latin typeface="Aptos"/>
              </a:rPr>
              <a:t>Structured alumni/legacy
profiles + approval flow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3337560"/>
            <a:ext cx="3246120" cy="1188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75320" y="3337560"/>
            <a:ext cx="50292" cy="1188720"/>
          </a:xfrm>
          <a:prstGeom prst="rect">
            <a:avLst/>
          </a:prstGeom>
          <a:solidFill>
            <a:srgbClr val="21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39912" y="3465576"/>
            <a:ext cx="292607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101828"/>
                </a:solidFill>
                <a:latin typeface="Aptos"/>
              </a:rPr>
              <a:t>Discuss / Clubs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9912" y="3785615"/>
            <a:ext cx="2926079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19" b="0">
                <a:solidFill>
                  <a:srgbClr val="181F34"/>
                </a:solidFill>
                <a:latin typeface="Aptos"/>
              </a:rPr>
              <a:t>Club registration • verification
announcements • event publishing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20" y="5074920"/>
            <a:ext cx="3246120" cy="1188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75320" y="5074920"/>
            <a:ext cx="50292" cy="1188720"/>
          </a:xfrm>
          <a:prstGeom prst="rect">
            <a:avLst/>
          </a:prstGeom>
          <a:solidFill>
            <a:srgbClr val="CD4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39912" y="5202936"/>
            <a:ext cx="292607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101828"/>
                </a:solidFill>
                <a:latin typeface="Aptos"/>
              </a:rPr>
              <a:t>Collaboration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9912" y="5522976"/>
            <a:ext cx="2926079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19" b="0">
                <a:solidFill>
                  <a:srgbClr val="181F34"/>
                </a:solidFill>
                <a:latin typeface="Aptos"/>
              </a:rPr>
              <a:t>Startups • communities • clubs
companies / partnerships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840480" y="2148840"/>
            <a:ext cx="868680" cy="594360"/>
          </a:xfrm>
          <a:prstGeom prst="line">
            <a:avLst/>
          </a:prstGeom>
          <a:ln w="16510">
            <a:solidFill>
              <a:srgbClr val="E0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840480" y="3246120"/>
            <a:ext cx="868680" cy="640080"/>
          </a:xfrm>
          <a:prstGeom prst="line">
            <a:avLst/>
          </a:prstGeom>
          <a:ln w="16510">
            <a:solidFill>
              <a:srgbClr val="E0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3840480" y="3520440"/>
            <a:ext cx="868680" cy="2103120"/>
          </a:xfrm>
          <a:prstGeom prst="line">
            <a:avLst/>
          </a:prstGeom>
          <a:ln w="16510">
            <a:solidFill>
              <a:srgbClr val="E0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452360" y="2148840"/>
            <a:ext cx="0" cy="594360"/>
          </a:xfrm>
          <a:prstGeom prst="line">
            <a:avLst/>
          </a:prstGeom>
          <a:ln w="16510">
            <a:solidFill>
              <a:srgbClr val="E0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7452360" y="3246120"/>
            <a:ext cx="0" cy="640080"/>
          </a:xfrm>
          <a:prstGeom prst="line">
            <a:avLst/>
          </a:prstGeom>
          <a:ln w="16510">
            <a:solidFill>
              <a:srgbClr val="E0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452360" y="3520440"/>
            <a:ext cx="0" cy="2103120"/>
          </a:xfrm>
          <a:prstGeom prst="line">
            <a:avLst/>
          </a:prstGeom>
          <a:ln w="16510">
            <a:solidFill>
              <a:srgbClr val="E0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E0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6583680"/>
            <a:ext cx="4754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50" b="0">
                <a:solidFill>
                  <a:srgbClr val="606A7D"/>
                </a:solidFill>
                <a:latin typeface="Aptos"/>
              </a:rPr>
              <a:t>IIITians Network • Case Study • Lokesh Meena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583680"/>
            <a:ext cx="5394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720" b="0">
                <a:solidFill>
                  <a:srgbClr val="606A7D"/>
                </a:solidFill>
                <a:latin typeface="Aptos"/>
              </a:rPr>
              <a:t>Current public site: iiitiansnetwork.in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09960" y="6574536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00" b="1">
                <a:solidFill>
                  <a:srgbClr val="5343DC"/>
                </a:solidFill>
                <a:latin typeface="Aptos"/>
              </a:rPr>
              <a:t>05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1207" y="269748"/>
            <a:ext cx="11137392" cy="7315"/>
          </a:xfrm>
          <a:prstGeom prst="rect">
            <a:avLst/>
          </a:prstGeom>
          <a:solidFill>
            <a:srgbClr val="E0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1207" y="59436"/>
            <a:ext cx="59471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Problem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921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88580" y="59436"/>
            <a:ext cx="926602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User research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15183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87841" y="59436"/>
            <a:ext cx="98607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Product vision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73915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514570" y="32004"/>
            <a:ext cx="752724" cy="210312"/>
          </a:xfrm>
          <a:prstGeom prst="roundRect">
            <a:avLst/>
          </a:prstGeom>
          <a:solidFill>
            <a:srgbClr val="EE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46574" y="59436"/>
            <a:ext cx="688716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1">
                <a:solidFill>
                  <a:srgbClr val="5343DC"/>
                </a:solidFill>
                <a:latin typeface="Aptos"/>
              </a:rPr>
              <a:t>Ecosystem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35291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07950" y="59436"/>
            <a:ext cx="59471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Roadmap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02664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75323" y="59436"/>
            <a:ext cx="1342902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Team operating model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18225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90884" y="59436"/>
            <a:ext cx="629245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Feedback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20129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92788" y="59436"/>
            <a:ext cx="59471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Launch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87502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60161" y="59436"/>
            <a:ext cx="629245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Adoption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89406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62065" y="59436"/>
            <a:ext cx="59471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Impact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56779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29438" y="59436"/>
            <a:ext cx="748188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Leadership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77626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750285" y="59436"/>
            <a:ext cx="926602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Future vision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743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1">
                <a:solidFill>
                  <a:srgbClr val="5343DC"/>
                </a:solidFill>
                <a:latin typeface="Aptos"/>
              </a:rPr>
              <a:t>05 • PRODUCT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500" b="1">
                <a:solidFill>
                  <a:srgbClr val="101828"/>
                </a:solidFill>
                <a:latin typeface="Aptos"/>
              </a:rPr>
              <a:t>From roadmap to launch: how I prioritized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0">
                <a:solidFill>
                  <a:srgbClr val="606A7D"/>
                </a:solidFill>
                <a:latin typeface="Aptos"/>
              </a:rPr>
              <a:t>I inherited a base; the execution goal was to renew the experience end-to-end and launch only when the core ecosystem was ready.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3493008" cy="17373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50292" cy="1737360"/>
          </a:xfrm>
          <a:prstGeom prst="rect">
            <a:avLst/>
          </a:prstGeom>
          <a:solidFill>
            <a:srgbClr val="534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728216"/>
            <a:ext cx="317296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101828"/>
                </a:solidFill>
                <a:latin typeface="Aptos"/>
              </a:rPr>
              <a:t>01  BASE + RESET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048256"/>
            <a:ext cx="3172968" cy="12070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80" b="0">
                <a:solidFill>
                  <a:srgbClr val="181F34"/>
                </a:solidFill>
                <a:latin typeface="Aptos"/>
              </a:rPr>
              <a:t>Inherited base from senior batches
Reframed requirements and renewed UI/backend direction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493008" cy="17373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00200"/>
            <a:ext cx="50292" cy="1737360"/>
          </a:xfrm>
          <a:prstGeom prst="rect">
            <a:avLst/>
          </a:prstGeom>
          <a:solidFill>
            <a:srgbClr val="34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728216"/>
            <a:ext cx="317296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101828"/>
                </a:solidFill>
                <a:latin typeface="Aptos"/>
              </a:rPr>
              <a:t>02  CORE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48256"/>
            <a:ext cx="3172968" cy="12070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80" b="0">
                <a:solidFill>
                  <a:srgbClr val="181F34"/>
                </a:solidFill>
                <a:latin typeface="Aptos"/>
              </a:rPr>
              <a:t>Placement • institutes • events • opportunities • Legacy • club workflows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600200"/>
            <a:ext cx="3493008" cy="17373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80" y="1600200"/>
            <a:ext cx="50292" cy="1737360"/>
          </a:xfrm>
          <a:prstGeom prst="rect">
            <a:avLst/>
          </a:prstGeom>
          <a:solidFill>
            <a:srgbClr val="21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728216"/>
            <a:ext cx="317296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101828"/>
                </a:solidFill>
                <a:latin typeface="Aptos"/>
              </a:rPr>
              <a:t>03  ENHANCE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2048256"/>
            <a:ext cx="3172968" cy="12070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80" b="0">
                <a:solidFill>
                  <a:srgbClr val="181F34"/>
                </a:solidFill>
                <a:latin typeface="Aptos"/>
              </a:rPr>
              <a:t>Smaller experience features, visual polish and ecosystem connections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685031"/>
            <a:ext cx="3493008" cy="17373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685031"/>
            <a:ext cx="50292" cy="1737360"/>
          </a:xfrm>
          <a:prstGeom prst="rect">
            <a:avLst/>
          </a:prstGeom>
          <a:solidFill>
            <a:srgbClr val="E58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3813047"/>
            <a:ext cx="317296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101828"/>
                </a:solidFill>
                <a:latin typeface="Aptos"/>
              </a:rPr>
              <a:t>04  VALIDATE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4133087"/>
            <a:ext cx="3172968" cy="12070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80" b="0">
                <a:solidFill>
                  <a:srgbClr val="181F34"/>
                </a:solidFill>
                <a:latin typeface="Aptos"/>
              </a:rPr>
              <a:t>Prototype reviews • internal workflow tests • sample registrations • feedback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685031"/>
            <a:ext cx="3493008" cy="17373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3685031"/>
            <a:ext cx="50292" cy="1737360"/>
          </a:xfrm>
          <a:prstGeom prst="rect">
            <a:avLst/>
          </a:prstGeom>
          <a:solidFill>
            <a:srgbClr val="21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07992" y="3813047"/>
            <a:ext cx="317296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101828"/>
                </a:solidFill>
                <a:latin typeface="Aptos"/>
              </a:rPr>
              <a:t>05  ~90% READY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7992" y="4133087"/>
            <a:ext cx="3172968" cy="12070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80" b="0">
                <a:solidFill>
                  <a:srgbClr val="181F34"/>
                </a:solidFill>
                <a:latin typeface="Aptos"/>
              </a:rPr>
              <a:t>Essential requirements available; major workflows functioning together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80" y="3685031"/>
            <a:ext cx="3493008" cy="17373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83880" y="3685031"/>
            <a:ext cx="50292" cy="1737360"/>
          </a:xfrm>
          <a:prstGeom prst="rect">
            <a:avLst/>
          </a:prstGeom>
          <a:solidFill>
            <a:srgbClr val="CD4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48472" y="3813047"/>
            <a:ext cx="317296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101828"/>
                </a:solidFill>
                <a:latin typeface="Aptos"/>
              </a:rPr>
              <a:t>06  LAUNCH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8472" y="4133087"/>
            <a:ext cx="3172968" cy="12070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80" b="0">
                <a:solidFill>
                  <a:srgbClr val="181F34"/>
                </a:solidFill>
                <a:latin typeface="Aptos"/>
              </a:rPr>
              <a:t>Soft launch → social distribution → adoption feedback → debugging/improvements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925312"/>
            <a:ext cx="10972800" cy="438912"/>
          </a:xfrm>
          <a:prstGeom prst="round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6007608"/>
            <a:ext cx="106070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PRIORITIZATION PRINCIPLE  •  Essential utility first → experience-enhancing features second → launch when the product was substantially complete.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E0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583680"/>
            <a:ext cx="4754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50" b="0">
                <a:solidFill>
                  <a:srgbClr val="606A7D"/>
                </a:solidFill>
                <a:latin typeface="Aptos"/>
              </a:rPr>
              <a:t>IIITians Network • Case Study • Lokesh Meena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6583680"/>
            <a:ext cx="5394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720" b="0">
                <a:solidFill>
                  <a:srgbClr val="606A7D"/>
                </a:solidFill>
                <a:latin typeface="Aptos"/>
              </a:rPr>
              <a:t>Roadmap description: my tenure account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574536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00" b="1">
                <a:solidFill>
                  <a:srgbClr val="5343DC"/>
                </a:solidFill>
                <a:latin typeface="Aptos"/>
              </a:rPr>
              <a:t>06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1207" y="269748"/>
            <a:ext cx="11137392" cy="7315"/>
          </a:xfrm>
          <a:prstGeom prst="rect">
            <a:avLst/>
          </a:prstGeom>
          <a:solidFill>
            <a:srgbClr val="E0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1207" y="59436"/>
            <a:ext cx="59471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Problem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921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8580" y="59436"/>
            <a:ext cx="926602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User research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15183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87841" y="59436"/>
            <a:ext cx="98607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Product vision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73915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46574" y="59436"/>
            <a:ext cx="688716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Ecosystem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35291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75946" y="32004"/>
            <a:ext cx="658721" cy="210312"/>
          </a:xfrm>
          <a:prstGeom prst="roundRect">
            <a:avLst/>
          </a:prstGeom>
          <a:solidFill>
            <a:srgbClr val="EE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07950" y="59436"/>
            <a:ext cx="59471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1">
                <a:solidFill>
                  <a:srgbClr val="5343DC"/>
                </a:solidFill>
                <a:latin typeface="Aptos"/>
              </a:rPr>
              <a:t>Roadmap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02664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75323" y="59436"/>
            <a:ext cx="1342902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Team operating model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18225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90884" y="59436"/>
            <a:ext cx="629245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Feedback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20129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2788" y="59436"/>
            <a:ext cx="59471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Launch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87502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60161" y="59436"/>
            <a:ext cx="629245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Adoption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89406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62065" y="59436"/>
            <a:ext cx="59471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Impact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56779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29438" y="59436"/>
            <a:ext cx="748188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Leadership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77626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50285" y="59436"/>
            <a:ext cx="926602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Future vision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743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1">
                <a:solidFill>
                  <a:srgbClr val="5343DC"/>
                </a:solidFill>
                <a:latin typeface="Aptos"/>
              </a:rPr>
              <a:t>06 •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500" b="1">
                <a:solidFill>
                  <a:srgbClr val="101828"/>
                </a:solidFill>
                <a:latin typeface="Aptos"/>
              </a:rPr>
              <a:t>I created the structure needed to execute the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0">
                <a:solidFill>
                  <a:srgbClr val="606A7D"/>
                </a:solidFill>
                <a:latin typeface="Aptos"/>
              </a:rPr>
              <a:t>The website was not built by me alone; I formed and coordinated the organization that could build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4920" y="1426464"/>
            <a:ext cx="2011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PRESIDENT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0" y="1353312"/>
            <a:ext cx="2560320" cy="566928"/>
          </a:xfrm>
          <a:prstGeom prst="roundRect">
            <a:avLst/>
          </a:prstGeom>
          <a:solidFill>
            <a:srgbClr val="534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65192" y="1508760"/>
            <a:ext cx="2240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PRESIDENT • LOKESH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8" y="2148840"/>
            <a:ext cx="17373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200" b="1">
                <a:solidFill>
                  <a:srgbClr val="101828"/>
                </a:solidFill>
                <a:latin typeface="Aptos"/>
              </a:rPr>
              <a:t>VP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514600"/>
            <a:ext cx="2578608" cy="11704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514600"/>
            <a:ext cx="50292" cy="1170432"/>
          </a:xfrm>
          <a:prstGeom prst="rect">
            <a:avLst/>
          </a:prstGeom>
          <a:solidFill>
            <a:srgbClr val="34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42616"/>
            <a:ext cx="225856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1">
                <a:solidFill>
                  <a:srgbClr val="101828"/>
                </a:solidFill>
                <a:latin typeface="Aptos"/>
              </a:rPr>
              <a:t>DEVELOPMENT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62656"/>
            <a:ext cx="2258568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>
                <a:solidFill>
                  <a:srgbClr val="181F34"/>
                </a:solidFill>
                <a:latin typeface="Aptos"/>
              </a:rPr>
              <a:t>Dedicated product build
+ implementation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9856" y="2514600"/>
            <a:ext cx="2578608" cy="11704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19856" y="2514600"/>
            <a:ext cx="50292" cy="1170432"/>
          </a:xfrm>
          <a:prstGeom prst="rect">
            <a:avLst/>
          </a:prstGeom>
          <a:solidFill>
            <a:srgbClr val="E58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4448" y="2642616"/>
            <a:ext cx="225856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1">
                <a:solidFill>
                  <a:srgbClr val="101828"/>
                </a:solidFill>
                <a:latin typeface="Aptos"/>
              </a:rPr>
              <a:t>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2962656"/>
            <a:ext cx="2258568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>
                <a:solidFill>
                  <a:srgbClr val="181F34"/>
                </a:solidFill>
                <a:latin typeface="Aptos"/>
              </a:rPr>
              <a:t>UI / visual system
+ creative support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2514600"/>
            <a:ext cx="2578608" cy="11704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2784" y="2514600"/>
            <a:ext cx="50292" cy="1170432"/>
          </a:xfrm>
          <a:prstGeom prst="rect">
            <a:avLst/>
          </a:prstGeom>
          <a:solidFill>
            <a:srgbClr val="21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2642616"/>
            <a:ext cx="225856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1">
                <a:solidFill>
                  <a:srgbClr val="101828"/>
                </a:solidFill>
                <a:latin typeface="Aptos"/>
              </a:rPr>
              <a:t>CONTENT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2962656"/>
            <a:ext cx="2258568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>
                <a:solidFill>
                  <a:srgbClr val="181F34"/>
                </a:solidFill>
                <a:latin typeface="Aptos"/>
              </a:rPr>
              <a:t>Website content/data
+ regular content work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25711" y="2514600"/>
            <a:ext cx="2578608" cy="11704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25711" y="2514600"/>
            <a:ext cx="50292" cy="1170432"/>
          </a:xfrm>
          <a:prstGeom prst="rect">
            <a:avLst/>
          </a:prstGeom>
          <a:solidFill>
            <a:srgbClr val="21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90303" y="2642616"/>
            <a:ext cx="225856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1">
                <a:solidFill>
                  <a:srgbClr val="101828"/>
                </a:solidFill>
                <a:latin typeface="Aptos"/>
              </a:rPr>
              <a:t>SOCIAL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0303" y="2962656"/>
            <a:ext cx="2258568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>
                <a:solidFill>
                  <a:srgbClr val="181F34"/>
                </a:solidFill>
                <a:latin typeface="Aptos"/>
              </a:rPr>
              <a:t>Distribution / promotion
+ audience engagement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160520"/>
            <a:ext cx="2743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50" b="1">
                <a:solidFill>
                  <a:srgbClr val="5343DC"/>
                </a:solidFill>
                <a:latin typeface="Aptos"/>
              </a:rPr>
              <a:t>HOW I MANAGED THE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4443984"/>
            <a:ext cx="6583680" cy="1783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200"/>
              </a:spcAft>
              <a:defRPr sz="980">
                <a:solidFill>
                  <a:srgbClr val="181F34"/>
                </a:solidFill>
                <a:latin typeface="Aptos"/>
              </a:defRPr>
            </a:pPr>
            <a:r>
              <a:t>•  Direct DMs + common Managers WhatsApp group + team/community groups.</a:t>
            </a:r>
          </a:p>
          <a:p>
            <a:pPr>
              <a:spcAft>
                <a:spcPts val="200"/>
              </a:spcAft>
              <a:defRPr sz="980">
                <a:solidFill>
                  <a:srgbClr val="181F34"/>
                </a:solidFill>
                <a:latin typeface="Aptos"/>
              </a:defRPr>
            </a:pPr>
            <a:r>
              <a:t>•  Task assignment/reassignment based on expertise, availability and the objective.</a:t>
            </a:r>
          </a:p>
          <a:p>
            <a:pPr>
              <a:spcAft>
                <a:spcPts val="200"/>
              </a:spcAft>
              <a:defRPr sz="980">
                <a:solidFill>
                  <a:srgbClr val="181F34"/>
                </a:solidFill>
                <a:latin typeface="Aptos"/>
              </a:defRPr>
            </a:pPr>
            <a:r>
              <a:t>•  When members became inactive: understand workload first; solve blockers; encourage voluntary ownership.</a:t>
            </a:r>
          </a:p>
          <a:p>
            <a:pPr>
              <a:spcAft>
                <a:spcPts val="200"/>
              </a:spcAft>
              <a:defRPr sz="980">
                <a:solidFill>
                  <a:srgbClr val="181F34"/>
                </a:solidFill>
                <a:latin typeface="Aptos"/>
              </a:defRPr>
            </a:pPr>
            <a:r>
              <a:t>•  When disagreements arose: evaluate product need, context and feasibility; make the call without dismissing people.</a:t>
            </a:r>
          </a:p>
          <a:p>
            <a:pPr>
              <a:spcAft>
                <a:spcPts val="200"/>
              </a:spcAft>
              <a:defRPr sz="980">
                <a:solidFill>
                  <a:srgbClr val="181F34"/>
                </a:solidFill>
                <a:latin typeface="Aptos"/>
              </a:defRPr>
            </a:pPr>
            <a:r>
              <a:t>•  Kept conversations positive and energetic to make contributors feel valued and connected.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52360" y="4160520"/>
            <a:ext cx="4114800" cy="1874519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52360" y="4160520"/>
            <a:ext cx="50292" cy="1874519"/>
          </a:xfrm>
          <a:prstGeom prst="rect">
            <a:avLst/>
          </a:prstGeom>
          <a:solidFill>
            <a:srgbClr val="534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16952" y="4288536"/>
            <a:ext cx="37947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00" b="1">
                <a:solidFill>
                  <a:srgbClr val="101828"/>
                </a:solidFill>
                <a:latin typeface="Aptos"/>
              </a:rPr>
              <a:t>My leadership principle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16952" y="4608576"/>
            <a:ext cx="3794760" cy="13441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0">
                <a:solidFill>
                  <a:srgbClr val="181F34"/>
                </a:solidFill>
                <a:latin typeface="Aptos"/>
              </a:rPr>
              <a:t>“Leadership was not just making decisions. It was collectively taking people ahead — and stepping in when the team needed me.”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E0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583680"/>
            <a:ext cx="4754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50" b="0">
                <a:solidFill>
                  <a:srgbClr val="606A7D"/>
                </a:solidFill>
                <a:latin typeface="Aptos"/>
              </a:rPr>
              <a:t>IIITians Network • Case Study • Lokesh Meena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6583680"/>
            <a:ext cx="5394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720" b="0">
                <a:solidFill>
                  <a:srgbClr val="606A7D"/>
                </a:solidFill>
                <a:latin typeface="Aptos"/>
              </a:rPr>
              <a:t>Team structure: my tenure account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574536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00" b="1">
                <a:solidFill>
                  <a:srgbClr val="5343DC"/>
                </a:solidFill>
                <a:latin typeface="Aptos"/>
              </a:rPr>
              <a:t>07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1207" y="269748"/>
            <a:ext cx="11137392" cy="7315"/>
          </a:xfrm>
          <a:prstGeom prst="rect">
            <a:avLst/>
          </a:prstGeom>
          <a:solidFill>
            <a:srgbClr val="E0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1207" y="59436"/>
            <a:ext cx="59471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Problem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921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8580" y="59436"/>
            <a:ext cx="926602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User research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15183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87841" y="59436"/>
            <a:ext cx="98607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Product vision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73915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46574" y="59436"/>
            <a:ext cx="688716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Ecosystem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35291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07950" y="59436"/>
            <a:ext cx="59471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Roadmap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02664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143319" y="32004"/>
            <a:ext cx="1406910" cy="210312"/>
          </a:xfrm>
          <a:prstGeom prst="roundRect">
            <a:avLst/>
          </a:prstGeom>
          <a:solidFill>
            <a:srgbClr val="EE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75323" y="59436"/>
            <a:ext cx="1342902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1">
                <a:solidFill>
                  <a:srgbClr val="5343DC"/>
                </a:solidFill>
                <a:latin typeface="Aptos"/>
              </a:rPr>
              <a:t>Team operating model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18225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90884" y="59436"/>
            <a:ext cx="629245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Feedback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20129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2788" y="59436"/>
            <a:ext cx="59471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Launch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87502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60161" y="59436"/>
            <a:ext cx="629245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Adoption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89406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62065" y="59436"/>
            <a:ext cx="59471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Impact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56779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29438" y="59436"/>
            <a:ext cx="748188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Leadership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77626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50285" y="59436"/>
            <a:ext cx="926602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Future vision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743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1">
                <a:solidFill>
                  <a:srgbClr val="5343DC"/>
                </a:solidFill>
                <a:latin typeface="Aptos"/>
              </a:rPr>
              <a:t>07 • FEEDBACK → PRODUCT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500" b="1">
                <a:solidFill>
                  <a:srgbClr val="101828"/>
                </a:solidFill>
                <a:latin typeface="Aptos"/>
              </a:rPr>
              <a:t>Collaboration: a manual process became a product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0">
                <a:solidFill>
                  <a:srgbClr val="606A7D"/>
                </a:solidFill>
                <a:latin typeface="Aptos"/>
              </a:rPr>
              <a:t>One concrete example of how feedback and operational friction translated into a platform requirement.</a:t>
            </a:r>
          </a:p>
        </p:txBody>
      </p:sp>
      <p:pic>
        <p:nvPicPr>
          <p:cNvPr id="6" name="Picture 5" descr="e9c9ff31-f0a9-4cc1-8e3b-5528682bac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72768"/>
            <a:ext cx="6172200" cy="25779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59168" y="1627632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50" b="1">
                <a:solidFill>
                  <a:srgbClr val="5343DC"/>
                </a:solidFill>
                <a:latin typeface="Aptos"/>
              </a:rP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59168" y="1901952"/>
            <a:ext cx="425196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00" b="0">
                <a:solidFill>
                  <a:srgbClr val="181F34"/>
                </a:solidFill>
                <a:latin typeface="Aptos"/>
              </a:rPr>
              <a:t>Club coordinators and partners typically reached the Network manually through email/messages. Collaboration depended on knowing whom to contact and starting the conversation outside the product.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59168" y="3127248"/>
            <a:ext cx="14630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50" b="1">
                <a:solidFill>
                  <a:srgbClr val="5343DC"/>
                </a:solidFill>
                <a:latin typeface="Aptos"/>
              </a:rPr>
              <a:t>PRODUCT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9168" y="3401568"/>
            <a:ext cx="4251960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00" b="0">
                <a:solidFill>
                  <a:srgbClr val="181F34"/>
                </a:solidFill>
                <a:latin typeface="Aptos"/>
              </a:rPr>
              <a:t>Create a dedicated, visible entry point for collaboration so external stakeholders can approach the Network directly.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9168" y="4462272"/>
            <a:ext cx="18288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50" b="1">
                <a:solidFill>
                  <a:srgbClr val="5343DC"/>
                </a:solidFill>
                <a:latin typeface="Aptos"/>
              </a:rPr>
              <a:t>WORKFLOW NOW EXPOSED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9168" y="4709160"/>
            <a:ext cx="4251960" cy="10789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81F34"/>
                </a:solidFill>
                <a:latin typeface="Aptos"/>
              </a:defRPr>
            </a:pPr>
            <a:r>
              <a:t>•  Startups — campus visibility / pilots</a:t>
            </a:r>
          </a:p>
          <a:p>
            <a:pPr>
              <a:spcAft>
                <a:spcPts val="200"/>
              </a:spcAft>
              <a:defRPr sz="950">
                <a:solidFill>
                  <a:srgbClr val="181F34"/>
                </a:solidFill>
                <a:latin typeface="Aptos"/>
              </a:defRPr>
            </a:pPr>
            <a:r>
              <a:t>•  Communities — co-hosted events</a:t>
            </a:r>
          </a:p>
          <a:p>
            <a:pPr>
              <a:spcAft>
                <a:spcPts val="200"/>
              </a:spcAft>
              <a:defRPr sz="950">
                <a:solidFill>
                  <a:srgbClr val="181F34"/>
                </a:solidFill>
                <a:latin typeface="Aptos"/>
              </a:defRPr>
            </a:pPr>
            <a:r>
              <a:t>•  Student Clubs — verification/resources/networking</a:t>
            </a:r>
          </a:p>
          <a:p>
            <a:pPr>
              <a:spcAft>
                <a:spcPts val="200"/>
              </a:spcAft>
              <a:defRPr sz="950">
                <a:solidFill>
                  <a:srgbClr val="181F34"/>
                </a:solidFill>
                <a:latin typeface="Aptos"/>
              </a:defRPr>
            </a:pPr>
            <a:r>
              <a:t>•  Companies — sponsorship / recruitment outreach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E0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83680"/>
            <a:ext cx="4754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50" b="0">
                <a:solidFill>
                  <a:srgbClr val="606A7D"/>
                </a:solidFill>
                <a:latin typeface="Aptos"/>
              </a:rPr>
              <a:t>IIITians Network • Case Study • Lokesh Meena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583680"/>
            <a:ext cx="5394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720" b="0">
                <a:solidFill>
                  <a:srgbClr val="606A7D"/>
                </a:solidFill>
                <a:latin typeface="Aptos"/>
              </a:rPr>
              <a:t>Screenshot supplied by Lokesh • public site confirms categories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574536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00" b="1">
                <a:solidFill>
                  <a:srgbClr val="5343DC"/>
                </a:solidFill>
                <a:latin typeface="Aptos"/>
              </a:rPr>
              <a:t>08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7" y="269748"/>
            <a:ext cx="11137392" cy="7315"/>
          </a:xfrm>
          <a:prstGeom prst="rect">
            <a:avLst/>
          </a:prstGeom>
          <a:solidFill>
            <a:srgbClr val="E0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59436"/>
            <a:ext cx="59471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Problem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921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8580" y="59436"/>
            <a:ext cx="926602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User research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15183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87841" y="59436"/>
            <a:ext cx="98607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Product vision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73915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6574" y="59436"/>
            <a:ext cx="688716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Ecosystem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35291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950" y="59436"/>
            <a:ext cx="59471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Roadmap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02664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75323" y="59436"/>
            <a:ext cx="1342902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Team operating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8225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58880" y="32004"/>
            <a:ext cx="693253" cy="210312"/>
          </a:xfrm>
          <a:prstGeom prst="roundRect">
            <a:avLst/>
          </a:prstGeom>
          <a:solidFill>
            <a:srgbClr val="EE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90884" y="59436"/>
            <a:ext cx="629245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1">
                <a:solidFill>
                  <a:srgbClr val="5343DC"/>
                </a:solidFill>
                <a:latin typeface="Aptos"/>
              </a:rPr>
              <a:t>Feedback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20129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2788" y="59436"/>
            <a:ext cx="59471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Launch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87502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0161" y="59436"/>
            <a:ext cx="629245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Adoption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89406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62065" y="59436"/>
            <a:ext cx="59471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Impact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56779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9438" y="59436"/>
            <a:ext cx="748188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Leadership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77626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50285" y="59436"/>
            <a:ext cx="926602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Future vision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743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1">
                <a:solidFill>
                  <a:srgbClr val="5343DC"/>
                </a:solidFill>
                <a:latin typeface="Aptos"/>
              </a:rPr>
              <a:t>08 • LAUNCH &amp;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500" b="1">
                <a:solidFill>
                  <a:srgbClr val="101828"/>
                </a:solidFill>
                <a:latin typeface="Aptos"/>
              </a:rPr>
              <a:t>Launch was an operating campaign, not a button click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0">
                <a:solidFill>
                  <a:srgbClr val="606A7D"/>
                </a:solidFill>
                <a:latin typeface="Aptos"/>
              </a:rPr>
              <a:t>I treated launch as product readiness + distribution + feedback + continuous debugging.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91640"/>
            <a:ext cx="2011680" cy="1920240"/>
          </a:xfrm>
          <a:prstGeom prst="roundRect">
            <a:avLst/>
          </a:prstGeom>
          <a:solidFill>
            <a:srgbClr val="F7F8FC"/>
          </a:solidFill>
          <a:ln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920240"/>
            <a:ext cx="17373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00" b="1">
                <a:solidFill>
                  <a:srgbClr val="5343DC"/>
                </a:solidFill>
                <a:latin typeface="Aptos"/>
              </a:rPr>
              <a:t>READINESS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395728"/>
            <a:ext cx="173736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40" b="0">
                <a:solidFill>
                  <a:srgbClr val="181F34"/>
                </a:solidFill>
                <a:latin typeface="Aptos"/>
              </a:rPr>
              <a:t>~90% core complete
Pre-launch workflow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9464" y="2331720"/>
            <a:ext cx="228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2000" b="1">
                <a:solidFill>
                  <a:srgbClr val="606A7D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25496" y="1691640"/>
            <a:ext cx="2011680" cy="1920240"/>
          </a:xfrm>
          <a:prstGeom prst="roundRect">
            <a:avLst/>
          </a:prstGeom>
          <a:solidFill>
            <a:srgbClr val="F7F8FC"/>
          </a:solidFill>
          <a:ln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2656" y="1920240"/>
            <a:ext cx="17373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00" b="1">
                <a:solidFill>
                  <a:srgbClr val="3465EB"/>
                </a:solidFill>
                <a:latin typeface="Aptos"/>
              </a:rPr>
              <a:t>SOFT LAUNCH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2656" y="2395728"/>
            <a:ext cx="173736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40" b="0">
                <a:solidFill>
                  <a:srgbClr val="181F34"/>
                </a:solidFill>
                <a:latin typeface="Aptos"/>
              </a:rPr>
              <a:t>Existing social/community reach
Instagram • LinkedIn • Discord • WhatsApp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2" y="2331720"/>
            <a:ext cx="228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2000" b="1">
                <a:solidFill>
                  <a:srgbClr val="606A7D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4064" y="1691640"/>
            <a:ext cx="2011680" cy="1920240"/>
          </a:xfrm>
          <a:prstGeom prst="roundRect">
            <a:avLst/>
          </a:prstGeom>
          <a:solidFill>
            <a:srgbClr val="F7F8FC"/>
          </a:solidFill>
          <a:ln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21224" y="1920240"/>
            <a:ext cx="17373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00" b="1">
                <a:solidFill>
                  <a:srgbClr val="E5872E"/>
                </a:solidFill>
                <a:latin typeface="Aptos"/>
              </a:rPr>
              <a:t>DISCOVERY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2395728"/>
            <a:ext cx="173736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40" b="0">
                <a:solidFill>
                  <a:srgbClr val="181F34"/>
                </a:solidFill>
                <a:latin typeface="Aptos"/>
              </a:rPr>
              <a:t>Freshers / aspirants / college clubs
Network audience + review-style content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331720"/>
            <a:ext cx="228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2000" b="1">
                <a:solidFill>
                  <a:srgbClr val="606A7D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42631" y="1691640"/>
            <a:ext cx="2011680" cy="1920240"/>
          </a:xfrm>
          <a:prstGeom prst="roundRect">
            <a:avLst/>
          </a:prstGeom>
          <a:solidFill>
            <a:srgbClr val="F7F8FC"/>
          </a:solidFill>
          <a:ln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9792" y="1920240"/>
            <a:ext cx="17373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00" b="1">
                <a:solidFill>
                  <a:srgbClr val="219168"/>
                </a:solidFill>
                <a:latin typeface="Aptos"/>
              </a:rPr>
              <a:t>ADOPTION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9792" y="2395728"/>
            <a:ext cx="173736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40" b="0">
                <a:solidFill>
                  <a:srgbClr val="181F34"/>
                </a:solidFill>
                <a:latin typeface="Aptos"/>
              </a:rPr>
              <a:t>Events • opportunities • clubs • Legacy • gallery submissions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45167" y="2331720"/>
            <a:ext cx="228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2000" b="1">
                <a:solidFill>
                  <a:srgbClr val="606A7D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1691640"/>
            <a:ext cx="2011680" cy="1920240"/>
          </a:xfrm>
          <a:prstGeom prst="roundRect">
            <a:avLst/>
          </a:prstGeom>
          <a:solidFill>
            <a:srgbClr val="F7F8FC"/>
          </a:solidFill>
          <a:ln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38360" y="1920240"/>
            <a:ext cx="17373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00" b="1">
                <a:solidFill>
                  <a:srgbClr val="21AABE"/>
                </a:solidFill>
                <a:latin typeface="Aptos"/>
              </a:rPr>
              <a:t>FEEDBACK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2395728"/>
            <a:ext cx="173736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40" b="0">
                <a:solidFill>
                  <a:srgbClr val="181F34"/>
                </a:solidFill>
                <a:latin typeface="Aptos"/>
              </a:rPr>
              <a:t>Bugs + suggestions → fixes / improvements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069080"/>
            <a:ext cx="2423160" cy="1280160"/>
          </a:xfrm>
          <a:prstGeom prst="roundRect">
            <a:avLst/>
          </a:prstGeom>
          <a:solidFill>
            <a:srgbClr val="F7F8FC"/>
          </a:solidFill>
          <a:ln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4178808"/>
            <a:ext cx="2130552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200" b="1">
                <a:solidFill>
                  <a:srgbClr val="5343DC"/>
                </a:solidFill>
                <a:latin typeface="Aptos"/>
              </a:rPr>
              <a:t>30–40K+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654296"/>
            <a:ext cx="213055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50" b="1">
                <a:solidFill>
                  <a:srgbClr val="101828"/>
                </a:solidFill>
                <a:latin typeface="Aptos"/>
              </a:rPr>
              <a:t>Website views reported within a few months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82112" y="4069080"/>
            <a:ext cx="2423160" cy="1280160"/>
          </a:xfrm>
          <a:prstGeom prst="roundRect">
            <a:avLst/>
          </a:prstGeom>
          <a:solidFill>
            <a:srgbClr val="F7F8FC"/>
          </a:solidFill>
          <a:ln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28416" y="4178808"/>
            <a:ext cx="2130552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200" b="1">
                <a:solidFill>
                  <a:srgbClr val="3465EB"/>
                </a:solidFill>
                <a:latin typeface="Aptos"/>
              </a:rPr>
              <a:t>20K+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28416" y="4654296"/>
            <a:ext cx="213055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50" b="1">
                <a:solidFill>
                  <a:srgbClr val="101828"/>
                </a:solidFill>
                <a:latin typeface="Aptos"/>
              </a:rPr>
              <a:t>Instagram followers / reach base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97296" y="4069080"/>
            <a:ext cx="2423160" cy="1280160"/>
          </a:xfrm>
          <a:prstGeom prst="roundRect">
            <a:avLst/>
          </a:prstGeom>
          <a:solidFill>
            <a:srgbClr val="F7F8FC"/>
          </a:solidFill>
          <a:ln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0" y="4178808"/>
            <a:ext cx="2130552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200" b="1">
                <a:solidFill>
                  <a:srgbClr val="21AABE"/>
                </a:solidFill>
                <a:latin typeface="Aptos"/>
              </a:rPr>
              <a:t>~16K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4654296"/>
            <a:ext cx="213055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50" b="1">
                <a:solidFill>
                  <a:srgbClr val="101828"/>
                </a:solidFill>
                <a:latin typeface="Aptos"/>
              </a:rPr>
              <a:t>LinkedIn followers / reach base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4069080"/>
            <a:ext cx="3163824" cy="1280160"/>
          </a:xfrm>
          <a:prstGeom prst="roundRect">
            <a:avLst/>
          </a:prstGeom>
          <a:solidFill>
            <a:srgbClr val="F7F8FC"/>
          </a:solidFill>
          <a:ln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58784" y="4178808"/>
            <a:ext cx="2871216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200" b="1">
                <a:solidFill>
                  <a:srgbClr val="E5872E"/>
                </a:solidFill>
                <a:latin typeface="Aptos"/>
              </a:rPr>
              <a:t>1K+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58784" y="4654296"/>
            <a:ext cx="2871216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50" b="1">
                <a:solidFill>
                  <a:srgbClr val="101828"/>
                </a:solidFill>
                <a:latin typeface="Aptos"/>
              </a:rPr>
              <a:t>Discord members used as a communications/streaming community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5687568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200" b="1">
                <a:solidFill>
                  <a:srgbClr val="101828"/>
                </a:solidFill>
                <a:latin typeface="Aptos"/>
              </a:rPr>
              <a:t>Adoption signals: events were being registered; opportunities searched; club registrations arriving; Legacy members registering; gallery contributions growing.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E0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6583680"/>
            <a:ext cx="4754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50" b="0">
                <a:solidFill>
                  <a:srgbClr val="606A7D"/>
                </a:solidFill>
                <a:latin typeface="Aptos"/>
              </a:rPr>
              <a:t>IIITians Network • Case Study • Lokesh Meena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583680"/>
            <a:ext cx="5394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720" b="0">
                <a:solidFill>
                  <a:srgbClr val="606A7D"/>
                </a:solidFill>
                <a:latin typeface="Aptos"/>
              </a:rPr>
              <a:t>Traffic/reach: self-reported tenure figures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09960" y="6574536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00" b="1">
                <a:solidFill>
                  <a:srgbClr val="5343DC"/>
                </a:solidFill>
                <a:latin typeface="Aptos"/>
              </a:rPr>
              <a:t>09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1207" y="269748"/>
            <a:ext cx="11137392" cy="7315"/>
          </a:xfrm>
          <a:prstGeom prst="rect">
            <a:avLst/>
          </a:prstGeom>
          <a:solidFill>
            <a:srgbClr val="E0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1207" y="59436"/>
            <a:ext cx="59471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Problem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921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88580" y="59436"/>
            <a:ext cx="926602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User research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15183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87841" y="59436"/>
            <a:ext cx="98607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Product vision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73915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46574" y="59436"/>
            <a:ext cx="688716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Ecosystem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35291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07950" y="59436"/>
            <a:ext cx="59471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Roadmap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02664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75323" y="59436"/>
            <a:ext cx="1342902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Team operating model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18225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90884" y="59436"/>
            <a:ext cx="629245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Feedback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20129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460784" y="32004"/>
            <a:ext cx="658721" cy="210312"/>
          </a:xfrm>
          <a:prstGeom prst="roundRect">
            <a:avLst/>
          </a:prstGeom>
          <a:solidFill>
            <a:srgbClr val="EE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92788" y="59436"/>
            <a:ext cx="59471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1">
                <a:solidFill>
                  <a:srgbClr val="5343DC"/>
                </a:solidFill>
                <a:latin typeface="Aptos"/>
              </a:rPr>
              <a:t>Launch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87502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60161" y="59436"/>
            <a:ext cx="629245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Adoption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89406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62065" y="59436"/>
            <a:ext cx="59471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Impact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56779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29438" y="59436"/>
            <a:ext cx="748188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Leadership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77626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750285" y="59436"/>
            <a:ext cx="926602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Future vision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743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1">
                <a:solidFill>
                  <a:srgbClr val="5343DC"/>
                </a:solidFill>
                <a:latin typeface="Aptos"/>
              </a:rPr>
              <a:t>09 •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500" b="1">
                <a:solidFill>
                  <a:srgbClr val="101828"/>
                </a:solidFill>
                <a:latin typeface="Aptos"/>
              </a:rPr>
              <a:t>What changed in the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0">
                <a:solidFill>
                  <a:srgbClr val="606A7D"/>
                </a:solidFill>
                <a:latin typeface="Aptos"/>
              </a:rPr>
              <a:t>The product moved fragmented information and interactions toward a shared, discoverable 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5257800" cy="1188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50292" cy="1188720"/>
          </a:xfrm>
          <a:prstGeom prst="rect">
            <a:avLst/>
          </a:prstGeom>
          <a:solidFill>
            <a:srgbClr val="34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00784"/>
            <a:ext cx="49377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101828"/>
                </a:solidFill>
                <a:latin typeface="Aptos"/>
              </a:rPr>
              <a:t>DISCOVERY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20824"/>
            <a:ext cx="49377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0">
                <a:solidFill>
                  <a:srgbClr val="181F34"/>
                </a:solidFill>
                <a:latin typeface="Aptos"/>
              </a:rPr>
              <a:t>IIIT directory + placement explorer + counselling context reduce repeated searching.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1572768"/>
            <a:ext cx="5257800" cy="1188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63056" y="1572768"/>
            <a:ext cx="50292" cy="1188720"/>
          </a:xfrm>
          <a:prstGeom prst="rect">
            <a:avLst/>
          </a:prstGeom>
          <a:solidFill>
            <a:srgbClr val="E58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700784"/>
            <a:ext cx="49377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101828"/>
                </a:solidFill>
                <a:latin typeface="Aptos"/>
              </a:rPr>
              <a:t>EVENTS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020824"/>
            <a:ext cx="49377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0">
                <a:solidFill>
                  <a:srgbClr val="181F34"/>
                </a:solidFill>
                <a:latin typeface="Aptos"/>
              </a:rPr>
              <a:t>A common event layer makes fests, hackathons and campus activities discoverable across IIITs.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990088"/>
            <a:ext cx="5257800" cy="1188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2990088"/>
            <a:ext cx="50292" cy="1188720"/>
          </a:xfrm>
          <a:prstGeom prst="rect">
            <a:avLst/>
          </a:prstGeom>
          <a:solidFill>
            <a:srgbClr val="21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18104"/>
            <a:ext cx="49377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101828"/>
                </a:solidFill>
                <a:latin typeface="Aptos"/>
              </a:rPr>
              <a:t>OPPORTUNITIES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438144"/>
            <a:ext cx="49377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0">
                <a:solidFill>
                  <a:srgbClr val="181F34"/>
                </a:solidFill>
                <a:latin typeface="Aptos"/>
              </a:rPr>
              <a:t>Internships, full-time, research, open source, hackathons and startup roles are grouped in one place.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2990088"/>
            <a:ext cx="5257800" cy="1188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63056" y="2990088"/>
            <a:ext cx="50292" cy="1188720"/>
          </a:xfrm>
          <a:prstGeom prst="rect">
            <a:avLst/>
          </a:prstGeom>
          <a:solidFill>
            <a:srgbClr val="534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3118104"/>
            <a:ext cx="49377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101828"/>
                </a:solidFill>
                <a:latin typeface="Aptos"/>
              </a:rPr>
              <a:t>COMMUNITY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3438144"/>
            <a:ext cx="49377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0">
                <a:solidFill>
                  <a:srgbClr val="181F34"/>
                </a:solidFill>
                <a:latin typeface="Aptos"/>
              </a:rPr>
              <a:t>Legacy, clubs, discuss and gallery create persistent community surfaces beyond one-off posts.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407408"/>
            <a:ext cx="5257800" cy="1188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4407408"/>
            <a:ext cx="50292" cy="1188720"/>
          </a:xfrm>
          <a:prstGeom prst="rect">
            <a:avLst/>
          </a:prstGeom>
          <a:solidFill>
            <a:srgbClr val="CD4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535424"/>
            <a:ext cx="49377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101828"/>
                </a:solidFill>
                <a:latin typeface="Aptos"/>
              </a:rPr>
              <a:t>COLLABORATION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855464"/>
            <a:ext cx="49377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0">
                <a:solidFill>
                  <a:srgbClr val="181F34"/>
                </a:solidFill>
                <a:latin typeface="Aptos"/>
              </a:rPr>
              <a:t>Startups, communities, clubs and companies have a visible route into the ecosystem.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63056" y="4407408"/>
            <a:ext cx="5257800" cy="1188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63056" y="4407408"/>
            <a:ext cx="50292" cy="1188720"/>
          </a:xfrm>
          <a:prstGeom prst="rect">
            <a:avLst/>
          </a:prstGeom>
          <a:solidFill>
            <a:srgbClr val="21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7648" y="4535424"/>
            <a:ext cx="49377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101828"/>
                </a:solidFill>
                <a:latin typeface="Aptos"/>
              </a:rPr>
              <a:t>NETWORK EFFECT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4855464"/>
            <a:ext cx="49377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0">
                <a:solidFill>
                  <a:srgbClr val="181F34"/>
                </a:solidFill>
                <a:latin typeface="Aptos"/>
              </a:rPr>
              <a:t>Existing social/Discord reach feeds discovery; platform activity creates new content and participation.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897880"/>
            <a:ext cx="10972800" cy="411480"/>
          </a:xfrm>
          <a:prstGeom prst="roundRect">
            <a:avLst/>
          </a:prstGeom>
          <a:solidFill>
            <a:srgbClr val="EEECFF"/>
          </a:solidFill>
          <a:ln>
            <a:solidFill>
              <a:srgbClr val="534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980176"/>
            <a:ext cx="106070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50" b="1">
                <a:solidFill>
                  <a:srgbClr val="101828"/>
                </a:solidFill>
                <a:latin typeface="Aptos"/>
              </a:rPr>
              <a:t>MY OUTCOME VIEW  •  The important result was not one feature; it was making more of the IIIT journey discoverable from one place.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E0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583680"/>
            <a:ext cx="4754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50" b="0">
                <a:solidFill>
                  <a:srgbClr val="606A7D"/>
                </a:solidFill>
                <a:latin typeface="Aptos"/>
              </a:rPr>
              <a:t>IIITians Network • Case Study • Lokesh Meena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6583680"/>
            <a:ext cx="5394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720" b="0">
                <a:solidFill>
                  <a:srgbClr val="606A7D"/>
                </a:solidFill>
                <a:latin typeface="Aptos"/>
              </a:rPr>
              <a:t>Current public platform supports these ecosystem surfaces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574536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00" b="1">
                <a:solidFill>
                  <a:srgbClr val="5343DC"/>
                </a:solidFill>
                <a:latin typeface="Aptos"/>
              </a:rPr>
              <a:t>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1207" y="269748"/>
            <a:ext cx="11137392" cy="7315"/>
          </a:xfrm>
          <a:prstGeom prst="rect">
            <a:avLst/>
          </a:prstGeom>
          <a:solidFill>
            <a:srgbClr val="E0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1207" y="59436"/>
            <a:ext cx="59471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Problem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921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8580" y="59436"/>
            <a:ext cx="926602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User research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15183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87841" y="59436"/>
            <a:ext cx="98607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Product vision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73915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46574" y="59436"/>
            <a:ext cx="688716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Ecosystem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35291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07950" y="59436"/>
            <a:ext cx="59471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Roadmap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02664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75323" y="59436"/>
            <a:ext cx="1342902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Team operating model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18225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90884" y="59436"/>
            <a:ext cx="629245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Feedback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20129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2788" y="59436"/>
            <a:ext cx="59471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Launch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87502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60161" y="59436"/>
            <a:ext cx="629245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Adoption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89406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030061" y="32004"/>
            <a:ext cx="658721" cy="210312"/>
          </a:xfrm>
          <a:prstGeom prst="roundRect">
            <a:avLst/>
          </a:prstGeom>
          <a:solidFill>
            <a:srgbClr val="EE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62065" y="59436"/>
            <a:ext cx="59471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1">
                <a:solidFill>
                  <a:srgbClr val="5343DC"/>
                </a:solidFill>
                <a:latin typeface="Aptos"/>
              </a:rPr>
              <a:t>Impact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56779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29438" y="59436"/>
            <a:ext cx="748188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Leadership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77626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50285" y="59436"/>
            <a:ext cx="926602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Future vision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743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1">
                <a:solidFill>
                  <a:srgbClr val="5343DC"/>
                </a:solidFill>
                <a:latin typeface="Aptos"/>
              </a:rPr>
              <a:t>10 • LEADERSHIP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500" b="1">
                <a:solidFill>
                  <a:srgbClr val="101828"/>
                </a:solidFill>
                <a:latin typeface="Aptos"/>
              </a:rPr>
              <a:t>The hardest problem was people, not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0">
                <a:solidFill>
                  <a:srgbClr val="606A7D"/>
                </a:solidFill>
                <a:latin typeface="Aptos"/>
              </a:rPr>
              <a:t>My biggest leadership learning came from keeping a distributed, voluntary student team moving.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5166360" cy="1874519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50292" cy="1874519"/>
          </a:xfrm>
          <a:prstGeom prst="rect">
            <a:avLst/>
          </a:prstGeom>
          <a:solidFill>
            <a:srgbClr val="CD4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00784"/>
            <a:ext cx="4846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1">
                <a:solidFill>
                  <a:srgbClr val="101828"/>
                </a:solidFill>
                <a:latin typeface="Aptos"/>
              </a:rP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20824"/>
            <a:ext cx="4846320" cy="13441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0">
                <a:solidFill>
                  <a:srgbClr val="181F34"/>
                </a:solidFill>
                <a:latin typeface="Aptos"/>
              </a:rPr>
              <a:t>Different college schedules • academic workload • inactivity • conflicting opinions • technical disagreements • communication gaps • delays. The team was distributed and participation was voluntary.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675887"/>
            <a:ext cx="5166360" cy="1874519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675887"/>
            <a:ext cx="50292" cy="1874519"/>
          </a:xfrm>
          <a:prstGeom prst="rect">
            <a:avLst/>
          </a:prstGeom>
          <a:solidFill>
            <a:srgbClr val="534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803903"/>
            <a:ext cx="4846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1">
                <a:solidFill>
                  <a:srgbClr val="101828"/>
                </a:solidFill>
                <a:latin typeface="Aptos"/>
              </a:rPr>
              <a:t>My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23944"/>
            <a:ext cx="4846320" cy="13441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0">
                <a:solidFill>
                  <a:srgbClr val="181F34"/>
                </a:solidFill>
                <a:latin typeface="Aptos"/>
              </a:rPr>
              <a:t>I held frequent, healthy discussions; understood genuine constraints; rebalanced tasks; stayed available to leads; personally followed up; kept conversations energetic; and stepped in when deadlines required execution.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1600200"/>
            <a:ext cx="22860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50" b="1">
                <a:solidFill>
                  <a:srgbClr val="5343DC"/>
                </a:solidFill>
                <a:latin typeface="Aptos"/>
              </a:rPr>
              <a:t>MY LEADERSHIP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057400"/>
            <a:ext cx="4114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400" b="1">
                <a:solidFill>
                  <a:srgbClr val="5343DC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084831"/>
            <a:ext cx="44805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1">
                <a:solidFill>
                  <a:srgbClr val="101828"/>
                </a:solidFill>
                <a:latin typeface="Aptos"/>
              </a:rPr>
              <a:t>Understand before judging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450592"/>
            <a:ext cx="44805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0">
                <a:solidFill>
                  <a:srgbClr val="181F34"/>
                </a:solidFill>
                <a:latin typeface="Aptos"/>
              </a:rPr>
              <a:t>People have academic and personal constraints; trust starts with understanding them.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3108960"/>
            <a:ext cx="4114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400" b="1">
                <a:solidFill>
                  <a:srgbClr val="3465EB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136392"/>
            <a:ext cx="44805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1">
                <a:solidFill>
                  <a:srgbClr val="101828"/>
                </a:solidFill>
                <a:latin typeface="Aptos"/>
              </a:rPr>
              <a:t>Lead from the front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502152"/>
            <a:ext cx="44805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0">
                <a:solidFill>
                  <a:srgbClr val="181F34"/>
                </a:solidFill>
                <a:latin typeface="Aptos"/>
              </a:rPr>
              <a:t>When the deadline matters, sometimes the leader has to step in and finish the work.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4160520"/>
            <a:ext cx="4114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400" b="1">
                <a:solidFill>
                  <a:srgbClr val="219168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187952"/>
            <a:ext cx="44805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1">
                <a:solidFill>
                  <a:srgbClr val="101828"/>
                </a:solidFill>
                <a:latin typeface="Aptos"/>
              </a:rPr>
              <a:t>Create ownership, not fear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4553712"/>
            <a:ext cx="44805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0">
                <a:solidFill>
                  <a:srgbClr val="181F34"/>
                </a:solidFill>
                <a:latin typeface="Aptos"/>
              </a:rPr>
              <a:t>Voluntary motivation and feeling valued can sustain contribution better than pressure.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5212080"/>
            <a:ext cx="4114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400" b="1">
                <a:solidFill>
                  <a:srgbClr val="E5872E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5239512"/>
            <a:ext cx="44805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1">
                <a:solidFill>
                  <a:srgbClr val="101828"/>
                </a:solidFill>
                <a:latin typeface="Aptos"/>
              </a:rPr>
              <a:t>Learn across functions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5605272"/>
            <a:ext cx="44805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0">
                <a:solidFill>
                  <a:srgbClr val="181F34"/>
                </a:solidFill>
                <a:latin typeface="Aptos"/>
              </a:rPr>
              <a:t>Figma/design thinking • content thinking • social growth • technical exposure.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E0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583680"/>
            <a:ext cx="4754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50" b="0">
                <a:solidFill>
                  <a:srgbClr val="606A7D"/>
                </a:solidFill>
                <a:latin typeface="Aptos"/>
              </a:rPr>
              <a:t>IIITians Network • Case Study • Lokesh Meena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6583680"/>
            <a:ext cx="5394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720" b="0">
                <a:solidFill>
                  <a:srgbClr val="606A7D"/>
                </a:solidFill>
                <a:latin typeface="Aptos"/>
              </a:rPr>
              <a:t>Leadership reflections: my tenure account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574536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00" b="1">
                <a:solidFill>
                  <a:srgbClr val="5343DC"/>
                </a:solidFill>
                <a:latin typeface="Aptos"/>
              </a:rPr>
              <a:t>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7" y="269748"/>
            <a:ext cx="11137392" cy="7315"/>
          </a:xfrm>
          <a:prstGeom prst="rect">
            <a:avLst/>
          </a:prstGeom>
          <a:solidFill>
            <a:srgbClr val="E0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207" y="59436"/>
            <a:ext cx="59471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Problem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921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8580" y="59436"/>
            <a:ext cx="926602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User research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15183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87841" y="59436"/>
            <a:ext cx="98607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Product vision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73915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46574" y="59436"/>
            <a:ext cx="688716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Ecosystem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35291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07950" y="59436"/>
            <a:ext cx="59471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Roadmap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02664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75323" y="59436"/>
            <a:ext cx="1342902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Team operating model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18225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90884" y="59436"/>
            <a:ext cx="629245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Feedback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20129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2788" y="59436"/>
            <a:ext cx="59471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Launch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87502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60161" y="59436"/>
            <a:ext cx="629245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Adoption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89406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62065" y="59436"/>
            <a:ext cx="59471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Impact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56779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797434" y="32004"/>
            <a:ext cx="812196" cy="210312"/>
          </a:xfrm>
          <a:prstGeom prst="roundRect">
            <a:avLst/>
          </a:prstGeom>
          <a:solidFill>
            <a:srgbClr val="EE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29438" y="59436"/>
            <a:ext cx="748188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1">
                <a:solidFill>
                  <a:srgbClr val="5343DC"/>
                </a:solidFill>
                <a:latin typeface="Aptos"/>
              </a:rPr>
              <a:t>Leadership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77626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969CAA"/>
                </a:solidFill>
                <a:latin typeface="Aptos"/>
              </a:rPr>
              <a:t>→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50285" y="59436"/>
            <a:ext cx="926602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Future vision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828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1">
                <a:solidFill>
                  <a:srgbClr val="B2ABFF"/>
                </a:solidFill>
                <a:latin typeface="Aptos"/>
              </a:rPr>
              <a:t>11 •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87782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What this case study says about 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500" b="0">
                <a:solidFill>
                  <a:srgbClr val="D2D8EA"/>
                </a:solidFill>
                <a:latin typeface="Aptos"/>
              </a:rPr>
              <a:t>I want this experience to be read as product leadership: identify a fragmented problem, build the system around real users, organize people to execute, make trade-offs, launch, learn and keep the ecosystem moving.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423160"/>
            <a:ext cx="3401568" cy="15727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423160"/>
            <a:ext cx="50292" cy="1572768"/>
          </a:xfrm>
          <a:prstGeom prst="rect">
            <a:avLst/>
          </a:prstGeom>
          <a:solidFill>
            <a:srgbClr val="534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51176"/>
            <a:ext cx="308152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00" b="1">
                <a:solidFill>
                  <a:srgbClr val="101828"/>
                </a:solidFill>
                <a:latin typeface="Aptos"/>
              </a:rPr>
              <a:t>01  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71215"/>
            <a:ext cx="3081528" cy="10424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0">
                <a:solidFill>
                  <a:srgbClr val="181F34"/>
                </a:solidFill>
                <a:latin typeface="Aptos"/>
              </a:rPr>
              <a:t>Problem framing • user research • roadmap • prioritization • workflow design • feedback → product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2423160"/>
            <a:ext cx="3401568" cy="15727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2423160"/>
            <a:ext cx="50292" cy="1572768"/>
          </a:xfrm>
          <a:prstGeom prst="rect">
            <a:avLst/>
          </a:prstGeom>
          <a:solidFill>
            <a:srgbClr val="34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551176"/>
            <a:ext cx="308152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00" b="1">
                <a:solidFill>
                  <a:srgbClr val="101828"/>
                </a:solidFill>
                <a:latin typeface="Aptos"/>
              </a:rPr>
              <a:t>02  EXECUTION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871215"/>
            <a:ext cx="3081528" cy="10424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0">
                <a:solidFill>
                  <a:srgbClr val="181F34"/>
                </a:solidFill>
                <a:latin typeface="Aptos"/>
              </a:rPr>
              <a:t>Cross-functional team • delegation • stakeholder coordination • testing • launch • adoption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82127" y="2423160"/>
            <a:ext cx="3703320" cy="15727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82127" y="2423160"/>
            <a:ext cx="50292" cy="1572768"/>
          </a:xfrm>
          <a:prstGeom prst="rect">
            <a:avLst/>
          </a:prstGeom>
          <a:solidFill>
            <a:srgbClr val="21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9" y="2551176"/>
            <a:ext cx="338327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00" b="1">
                <a:solidFill>
                  <a:srgbClr val="101828"/>
                </a:solidFill>
                <a:latin typeface="Aptos"/>
              </a:rPr>
              <a:t>03  LEADERSHIP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2871215"/>
            <a:ext cx="3383279" cy="10424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0">
                <a:solidFill>
                  <a:srgbClr val="181F34"/>
                </a:solidFill>
                <a:latin typeface="Aptos"/>
              </a:rPr>
              <a:t>Trust • voluntary ownership • conflict handling • stepping in when needed • long-term team cohesion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343400"/>
            <a:ext cx="18288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50" b="1">
                <a:solidFill>
                  <a:srgbClr val="5343DC"/>
                </a:solidFill>
                <a:latin typeface="Aptos"/>
              </a:rPr>
              <a:t>FUTURE DIRECTION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645152"/>
            <a:ext cx="67665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Jobs &amp; recruitment • paid brand collaborations • sustainable monetization • activate YouTube • deepen alumni/community participation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343400"/>
            <a:ext cx="13716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50" b="1">
                <a:solidFill>
                  <a:srgbClr val="5343DC"/>
                </a:solidFill>
                <a:latin typeface="Aptos"/>
              </a:rPr>
              <a:t>POSITIONING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2127" y="4645152"/>
            <a:ext cx="3611880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1">
                <a:solidFill>
                  <a:srgbClr val="DDE2F1"/>
                </a:solidFill>
                <a:latin typeface="Aptos"/>
              </a:rPr>
              <a:t>Product Management
→ Project / Program
→ Founder’s Office / Strategy &amp; Operations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806440"/>
            <a:ext cx="106984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600" b="1">
                <a:solidFill>
                  <a:srgbClr val="B2ABFF"/>
                </a:solidFill>
                <a:latin typeface="Aptos"/>
              </a:rPr>
              <a:t>“Leadership is not just making decisions; it is collectively taking people ahead.”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291072"/>
            <a:ext cx="10972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750" b="0">
                <a:solidFill>
                  <a:srgbClr val="97A0B8"/>
                </a:solidFill>
                <a:latin typeface="Aptos"/>
              </a:rPr>
              <a:t>Source context: current public platform at iiitiansnetwork.in • Metrics marked as reported are from my tenure account.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574536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00" b="1">
                <a:solidFill>
                  <a:srgbClr val="B2ABFF"/>
                </a:solidFill>
                <a:latin typeface="Aptos"/>
              </a:rPr>
              <a:t>12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1207" y="269748"/>
            <a:ext cx="11137392" cy="7315"/>
          </a:xfrm>
          <a:prstGeom prst="rect">
            <a:avLst/>
          </a:prstGeom>
          <a:solidFill>
            <a:srgbClr val="E0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59436"/>
            <a:ext cx="59471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Problem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921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8580" y="59436"/>
            <a:ext cx="926602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User research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15183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87841" y="59436"/>
            <a:ext cx="98607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Product vision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73915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46574" y="59436"/>
            <a:ext cx="688716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Ecosystem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35291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07950" y="59436"/>
            <a:ext cx="59471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Roadmap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02664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75323" y="59436"/>
            <a:ext cx="1342902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Team operating model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18225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90884" y="59436"/>
            <a:ext cx="629245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Feedback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20129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2788" y="59436"/>
            <a:ext cx="59471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Launch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87502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60161" y="59436"/>
            <a:ext cx="629245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Adoption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89406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2065" y="59436"/>
            <a:ext cx="594713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Impact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56779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29438" y="59436"/>
            <a:ext cx="748188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0">
                <a:solidFill>
                  <a:srgbClr val="969CAA"/>
                </a:solidFill>
                <a:latin typeface="Aptos"/>
              </a:rPr>
              <a:t>Leadership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77626" y="60350"/>
            <a:ext cx="17265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20" b="0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718281" y="32004"/>
            <a:ext cx="990610" cy="210312"/>
          </a:xfrm>
          <a:prstGeom prst="roundRect">
            <a:avLst/>
          </a:prstGeom>
          <a:solidFill>
            <a:srgbClr val="534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750285" y="59436"/>
            <a:ext cx="926602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1">
                <a:solidFill>
                  <a:srgbClr val="FFFFFF"/>
                </a:solidFill>
                <a:latin typeface="Aptos"/>
              </a:rPr>
              <a:t>Future vision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